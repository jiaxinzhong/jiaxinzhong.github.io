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3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4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5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4" r:id="rId3"/>
    <p:sldId id="285" r:id="rId4"/>
    <p:sldId id="288" r:id="rId5"/>
    <p:sldId id="289" r:id="rId6"/>
    <p:sldId id="310" r:id="rId7"/>
    <p:sldId id="312" r:id="rId8"/>
    <p:sldId id="290" r:id="rId9"/>
    <p:sldId id="313" r:id="rId10"/>
    <p:sldId id="314" r:id="rId11"/>
    <p:sldId id="315" r:id="rId12"/>
    <p:sldId id="316" r:id="rId13"/>
    <p:sldId id="318" r:id="rId14"/>
    <p:sldId id="317" r:id="rId15"/>
    <p:sldId id="287" r:id="rId16"/>
    <p:sldId id="274" r:id="rId17"/>
    <p:sldId id="286" r:id="rId18"/>
    <p:sldId id="319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98" autoAdjust="0"/>
  </p:normalViewPr>
  <p:slideViewPr>
    <p:cSldViewPr snapToGrid="0">
      <p:cViewPr varScale="1">
        <p:scale>
          <a:sx n="99" d="100"/>
          <a:sy n="99" d="100"/>
        </p:scale>
        <p:origin x="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4B6A5-D2C7-43DF-865D-DC77A41D8610}" type="datetimeFigureOut">
              <a:rPr lang="en-US" smtClean="0"/>
              <a:t>5/23/2025 Friday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EF8D4-255D-4F7F-9B5E-D114ADBFF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3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EF8D4-255D-4F7F-9B5E-D114ADBFF9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EF8D4-255D-4F7F-9B5E-D114ADBFF9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34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HatanoNelson_1D_Sketch_240314E2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EF8D4-255D-4F7F-9B5E-D114ADBFF9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94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EF8D4-255D-4F7F-9B5E-D114ADBFF9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2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EF8D4-255D-4F7F-9B5E-D114ADBFF9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7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D163-A293-900F-888F-C5917D13E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6796F-55CF-4716-C200-FB55F1788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BF3A7-6A84-83A7-7D26-36C4DFB9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EC335-A957-47C0-A41A-8975B2D2758F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ABA7D-42A0-94FB-7012-0BE87186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10230-6DD2-36E1-511A-46225447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8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7C0C-30FC-5364-79F5-4A0D8EEB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799B-18D0-FACA-0B30-3D1FC01F6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3D6E7-F4AA-0436-6093-D14D6156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A7F8B-3913-47F3-AE31-79FFBEB227A2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8B6CB-5003-F198-7D7A-DEB9B7FB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60138-190B-D9CB-6A68-E59FAC4B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8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0487-8F17-37E4-0E91-0B95E76A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2A6FC-C54F-1BAF-0768-5C52383D8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E3759-4883-20B1-2424-2E1ADD90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502F-3B84-4DD8-AB1B-447F47B26A62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A22A1-396A-C726-89D7-DCEC97B5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A5AB-1D5F-1BAB-D15F-6C539977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2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74C2-29F6-2788-E867-ACAF58DF2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BC087-4393-24E9-9288-B152020BF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FADF0-27E7-841F-7F57-C71FF77B7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7394C-587A-D89F-033B-E6BC0F9B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25976-2F8D-4AF9-AAA5-17FAEA0D2A4A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82540-8ABB-0237-0FB8-105B922A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D22F9-123B-BE94-3CE5-D957DF2B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5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D5FD-FF54-86A6-8004-A8ED74AA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1A096-6EF7-D5BC-89FF-E4A1317F2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89DCA-3E6C-2A32-690A-86E176CC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29817-B2F2-A1A1-4E21-1F8EFB6CF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D14AC-F3E2-51F1-B00A-2858E6A00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B0A91-73B8-A8E7-0A6B-A4360A51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3CC36-EB0F-4B13-BCF1-2CB9CFAFF27B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F0C02-DFBC-7B87-83E1-09A282F7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8CC0A-A4C6-08C9-8E98-055C7F15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9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C49385-0286-9D15-25EE-D0C984F1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5507-294B-40E1-B106-F6ED2EBC2BE5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DD5C4-9DD7-DFF7-448F-FF389F53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33DB4-4947-9027-58F1-15FFF4CE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9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E243-EB39-B377-E2EC-99D91DE88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26BE-9B99-E701-0ECB-BDE8029CB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E43D5-D5D7-7825-1F12-7D720AF18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C0B4F-2F48-65D4-E0C6-056E7937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D2143-2DE4-4031-9590-EEC41AFCD5D6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48BD2-B469-1CD7-0F51-85BBB8E0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A559D-D7CA-EB26-F623-6849EFAD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3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2B2F-6C6B-1F06-6A58-4823FDD1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3418B-F718-F7BA-71BA-A4DD2CC84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8AE5-E90E-47D1-091D-3695050F6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38E36-4C68-2CE4-7A27-F3F7D2B7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DEEA0-9174-4EC6-9BD4-E78F28F234D1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AB9CC-6C1B-4FD6-F940-D7A1AB90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525A9-3FDC-00E8-2296-2902097F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2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1AD6-D81E-0DE9-5633-4663F1D9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CFCD4-C1AA-B9EE-D8B0-2AE5FE081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7F9DD-D16E-22B0-49DD-6FBE88D4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52C6-ED9F-45EF-B748-0B7AD942054E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75669-FE28-1BA7-3361-4841DAC4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CC0DC-AD2B-29ED-FE3D-FAE0FD48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3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CB092-98D6-9897-5126-2DBDD4E33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E62F2-5BA5-BB1A-88C2-738AFD715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C7B2F-F4D8-22DA-E947-DF8210CC3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08E5-D25A-40EA-A288-65BB5C1C5EFC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C86D7-2313-D574-8116-6F5B8323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64FE8-9123-83DD-7CFB-271B45DB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1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50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C0FA4E-5BBA-1BD6-80A6-9DF6CDCF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744A5-CC08-9A01-6075-220381032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B75A-EC0B-F91F-26AA-F3DE736D6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9DFDC-975C-4385-AA92-D9601F342602}" type="datetime1">
              <a:rPr lang="en-US" smtClean="0"/>
              <a:t>5/23/2025 Friday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4A76F-473C-A57C-BCD9-F41137B52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B63E3-1916-3081-F076-344ACCE84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95700-1EA4-4240-B477-EEAA4F45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9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3" Type="http://schemas.openxmlformats.org/officeDocument/2006/relationships/tags" Target="../tags/tag5.xml"/><Relationship Id="rId21" Type="http://schemas.openxmlformats.org/officeDocument/2006/relationships/image" Target="../media/image13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tags" Target="../tags/tag4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29" Type="http://schemas.openxmlformats.org/officeDocument/2006/relationships/image" Target="../media/image21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image" Target="../media/image16.png"/><Relationship Id="rId5" Type="http://schemas.openxmlformats.org/officeDocument/2006/relationships/tags" Target="../tags/tag7.xml"/><Relationship Id="rId15" Type="http://schemas.openxmlformats.org/officeDocument/2006/relationships/image" Target="../media/image7.png"/><Relationship Id="rId23" Type="http://schemas.openxmlformats.org/officeDocument/2006/relationships/image" Target="../media/image15.png"/><Relationship Id="rId28" Type="http://schemas.openxmlformats.org/officeDocument/2006/relationships/image" Target="../media/image20.png"/><Relationship Id="rId10" Type="http://schemas.openxmlformats.org/officeDocument/2006/relationships/tags" Target="../tags/tag12.xml"/><Relationship Id="rId19" Type="http://schemas.openxmlformats.org/officeDocument/2006/relationships/image" Target="../media/image11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notesSlide" Target="../notesSlides/notesSlide2.xml"/><Relationship Id="rId22" Type="http://schemas.openxmlformats.org/officeDocument/2006/relationships/image" Target="../media/image14.png"/><Relationship Id="rId27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tags" Target="../tags/tag16.xml"/><Relationship Id="rId16" Type="http://schemas.openxmlformats.org/officeDocument/2006/relationships/image" Target="../media/image28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23.png"/><Relationship Id="rId5" Type="http://schemas.openxmlformats.org/officeDocument/2006/relationships/tags" Target="../tags/tag19.xml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tags" Target="../tags/tag24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1.png"/><Relationship Id="rId5" Type="http://schemas.openxmlformats.org/officeDocument/2006/relationships/tags" Target="../tags/tag27.xml"/><Relationship Id="rId15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9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57.xml"/><Relationship Id="rId21" Type="http://schemas.openxmlformats.org/officeDocument/2006/relationships/tags" Target="../tags/tag52.xml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63" Type="http://schemas.openxmlformats.org/officeDocument/2006/relationships/image" Target="../media/image65.png"/><Relationship Id="rId68" Type="http://schemas.openxmlformats.org/officeDocument/2006/relationships/image" Target="../media/image70.png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9" Type="http://schemas.openxmlformats.org/officeDocument/2006/relationships/tags" Target="../tags/tag60.xml"/><Relationship Id="rId11" Type="http://schemas.openxmlformats.org/officeDocument/2006/relationships/tags" Target="../tags/tag42.xml"/><Relationship Id="rId24" Type="http://schemas.openxmlformats.org/officeDocument/2006/relationships/tags" Target="../tags/tag55.xml"/><Relationship Id="rId32" Type="http://schemas.openxmlformats.org/officeDocument/2006/relationships/tags" Target="../tags/tag63.xml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3" Type="http://schemas.openxmlformats.org/officeDocument/2006/relationships/image" Target="../media/image58.png"/><Relationship Id="rId58" Type="http://schemas.openxmlformats.org/officeDocument/2006/relationships/image" Target="../media/image62.png"/><Relationship Id="rId66" Type="http://schemas.openxmlformats.org/officeDocument/2006/relationships/image" Target="../media/image68.png"/><Relationship Id="rId5" Type="http://schemas.openxmlformats.org/officeDocument/2006/relationships/tags" Target="../tags/tag36.xml"/><Relationship Id="rId61" Type="http://schemas.openxmlformats.org/officeDocument/2006/relationships/image" Target="../media/image64.png"/><Relationship Id="rId19" Type="http://schemas.openxmlformats.org/officeDocument/2006/relationships/tags" Target="../tags/tag50.xml"/><Relationship Id="rId14" Type="http://schemas.openxmlformats.org/officeDocument/2006/relationships/tags" Target="../tags/tag45.xml"/><Relationship Id="rId22" Type="http://schemas.openxmlformats.org/officeDocument/2006/relationships/tags" Target="../tags/tag53.xml"/><Relationship Id="rId27" Type="http://schemas.openxmlformats.org/officeDocument/2006/relationships/tags" Target="../tags/tag58.xml"/><Relationship Id="rId30" Type="http://schemas.openxmlformats.org/officeDocument/2006/relationships/tags" Target="../tags/tag61.xml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file:///C:\Users\MrJia\OneDrive%20-%20The%20Pennsylvania%20State%20University\Research\Z250307D_ActiveCACS\code\floquet\fig\FloquetOnsite_250514B_Post_Qy1x1Tune3i.png" TargetMode="External"/><Relationship Id="rId56" Type="http://schemas.openxmlformats.org/officeDocument/2006/relationships/image" Target="file:///C:\Users\MrJia\OneDrive%20-%20The%20Pennsylvania%20State%20University\Research\Z250307D_ActiveCACS\code\floquet\fig\FloquetOnsite_250514B_Post_Qy1x1TuneM3i.png" TargetMode="External"/><Relationship Id="rId64" Type="http://schemas.openxmlformats.org/officeDocument/2006/relationships/image" Target="../media/image66.png"/><Relationship Id="rId69" Type="http://schemas.openxmlformats.org/officeDocument/2006/relationships/image" Target="../media/image71.png"/><Relationship Id="rId8" Type="http://schemas.openxmlformats.org/officeDocument/2006/relationships/tags" Target="../tags/tag39.xml"/><Relationship Id="rId51" Type="http://schemas.openxmlformats.org/officeDocument/2006/relationships/image" Target="../media/image56.png"/><Relationship Id="rId3" Type="http://schemas.openxmlformats.org/officeDocument/2006/relationships/tags" Target="../tags/tag34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5" Type="http://schemas.openxmlformats.org/officeDocument/2006/relationships/tags" Target="../tags/tag56.xml"/><Relationship Id="rId33" Type="http://schemas.openxmlformats.org/officeDocument/2006/relationships/tags" Target="../tags/tag64.xml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59" Type="http://schemas.openxmlformats.org/officeDocument/2006/relationships/image" Target="../media/image63.png"/><Relationship Id="rId67" Type="http://schemas.openxmlformats.org/officeDocument/2006/relationships/image" Target="../media/image69.png"/><Relationship Id="rId20" Type="http://schemas.openxmlformats.org/officeDocument/2006/relationships/tags" Target="../tags/tag51.xml"/><Relationship Id="rId41" Type="http://schemas.openxmlformats.org/officeDocument/2006/relationships/image" Target="../media/image47.png"/><Relationship Id="rId54" Type="http://schemas.openxmlformats.org/officeDocument/2006/relationships/image" Target="../media/image59.png"/><Relationship Id="rId62" Type="http://schemas.openxmlformats.org/officeDocument/2006/relationships/image" Target="file:///C:\Users\MrJia\OneDrive%20-%20The%20Pennsylvania%20State%20University\Research\Z250307D_ActiveCACS\code\floquet\fig\FloquetOnsite_250514B_Post_Qy1x1FloquetSquare_Freq.png" TargetMode="Externa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28" Type="http://schemas.openxmlformats.org/officeDocument/2006/relationships/tags" Target="../tags/tag59.xml"/><Relationship Id="rId36" Type="http://schemas.openxmlformats.org/officeDocument/2006/relationships/image" Target="../media/image42.png"/><Relationship Id="rId49" Type="http://schemas.openxmlformats.org/officeDocument/2006/relationships/image" Target="../media/image54.png"/><Relationship Id="rId57" Type="http://schemas.openxmlformats.org/officeDocument/2006/relationships/image" Target="../media/image61.png"/><Relationship Id="rId10" Type="http://schemas.openxmlformats.org/officeDocument/2006/relationships/tags" Target="../tags/tag41.xml"/><Relationship Id="rId31" Type="http://schemas.openxmlformats.org/officeDocument/2006/relationships/tags" Target="../tags/tag62.xml"/><Relationship Id="rId44" Type="http://schemas.openxmlformats.org/officeDocument/2006/relationships/image" Target="../media/image50.png"/><Relationship Id="rId52" Type="http://schemas.openxmlformats.org/officeDocument/2006/relationships/image" Target="../media/image57.png"/><Relationship Id="rId60" Type="http://schemas.openxmlformats.org/officeDocument/2006/relationships/image" Target="file:///C:\Users\MrJia\OneDrive%20-%20The%20Pennsylvania%20State%20University\Research\Z250307D_ActiveCACS\code\floquet\fig\FloquetOnsite_250514B_Post_Qy1x1FloquetSquare_Time.png" TargetMode="External"/><Relationship Id="rId65" Type="http://schemas.openxmlformats.org/officeDocument/2006/relationships/image" Target="../media/image67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39" Type="http://schemas.openxmlformats.org/officeDocument/2006/relationships/image" Target="../media/image45.png"/><Relationship Id="rId34" Type="http://schemas.openxmlformats.org/officeDocument/2006/relationships/slideLayout" Target="../slideLayouts/slideLayout11.xml"/><Relationship Id="rId50" Type="http://schemas.openxmlformats.org/officeDocument/2006/relationships/image" Target="../media/image55.png"/><Relationship Id="rId55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90.xml"/><Relationship Id="rId21" Type="http://schemas.openxmlformats.org/officeDocument/2006/relationships/tags" Target="../tags/tag85.xml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63" Type="http://schemas.openxmlformats.org/officeDocument/2006/relationships/image" Target="file:///C:\Users\MrJia\OneDrive%20-%20The%20Pennsylvania%20State%20University\Research\Z250307D_ActiveCACS\code\floquet\fig\FloquetHop_250514C_Post_Qy2y1FloquetSquare_Time.png" TargetMode="External"/><Relationship Id="rId68" Type="http://schemas.openxmlformats.org/officeDocument/2006/relationships/image" Target="../media/image82.png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29" Type="http://schemas.openxmlformats.org/officeDocument/2006/relationships/tags" Target="../tags/tag93.xml"/><Relationship Id="rId11" Type="http://schemas.openxmlformats.org/officeDocument/2006/relationships/tags" Target="../tags/tag75.xml"/><Relationship Id="rId24" Type="http://schemas.openxmlformats.org/officeDocument/2006/relationships/tags" Target="../tags/tag88.xml"/><Relationship Id="rId32" Type="http://schemas.openxmlformats.org/officeDocument/2006/relationships/tags" Target="../tags/tag96.xml"/><Relationship Id="rId37" Type="http://schemas.openxmlformats.org/officeDocument/2006/relationships/slideLayout" Target="../slideLayouts/slideLayout11.xml"/><Relationship Id="rId40" Type="http://schemas.openxmlformats.org/officeDocument/2006/relationships/image" Target="../media/image43.png"/><Relationship Id="rId45" Type="http://schemas.openxmlformats.org/officeDocument/2006/relationships/image" Target="../media/image73.png"/><Relationship Id="rId53" Type="http://schemas.openxmlformats.org/officeDocument/2006/relationships/image" Target="../media/image55.png"/><Relationship Id="rId58" Type="http://schemas.openxmlformats.org/officeDocument/2006/relationships/image" Target="../media/image78.png"/><Relationship Id="rId66" Type="http://schemas.openxmlformats.org/officeDocument/2006/relationships/image" Target="../media/image65.png"/><Relationship Id="rId74" Type="http://schemas.openxmlformats.org/officeDocument/2006/relationships/image" Target="../media/image85.png"/><Relationship Id="rId5" Type="http://schemas.openxmlformats.org/officeDocument/2006/relationships/tags" Target="../tags/tag69.xml"/><Relationship Id="rId61" Type="http://schemas.openxmlformats.org/officeDocument/2006/relationships/image" Target="../media/image62.png"/><Relationship Id="rId19" Type="http://schemas.openxmlformats.org/officeDocument/2006/relationships/tags" Target="../tags/tag8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tags" Target="../tags/tag94.xml"/><Relationship Id="rId35" Type="http://schemas.openxmlformats.org/officeDocument/2006/relationships/tags" Target="../tags/tag99.xml"/><Relationship Id="rId43" Type="http://schemas.openxmlformats.org/officeDocument/2006/relationships/image" Target="../media/image46.png"/><Relationship Id="rId48" Type="http://schemas.openxmlformats.org/officeDocument/2006/relationships/image" Target="../media/image75.png"/><Relationship Id="rId56" Type="http://schemas.openxmlformats.org/officeDocument/2006/relationships/image" Target="../media/image58.png"/><Relationship Id="rId64" Type="http://schemas.openxmlformats.org/officeDocument/2006/relationships/image" Target="../media/image81.png"/><Relationship Id="rId69" Type="http://schemas.openxmlformats.org/officeDocument/2006/relationships/image" Target="../media/image68.png"/><Relationship Id="rId8" Type="http://schemas.openxmlformats.org/officeDocument/2006/relationships/tags" Target="../tags/tag72.xml"/><Relationship Id="rId51" Type="http://schemas.openxmlformats.org/officeDocument/2006/relationships/image" Target="file:///C:\Users\MrJia\OneDrive%20-%20The%20Pennsylvania%20State%20University\Research\Z250307D_ActiveCACS\code\floquet\fig\FloquetHop_250514C_Post_Qy2y1Tune1i.png" TargetMode="External"/><Relationship Id="rId72" Type="http://schemas.openxmlformats.org/officeDocument/2006/relationships/image" Target="../media/image83.png"/><Relationship Id="rId3" Type="http://schemas.openxmlformats.org/officeDocument/2006/relationships/tags" Target="../tags/tag67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tags" Target="../tags/tag97.xml"/><Relationship Id="rId38" Type="http://schemas.openxmlformats.org/officeDocument/2006/relationships/image" Target="../media/image72.png"/><Relationship Id="rId46" Type="http://schemas.openxmlformats.org/officeDocument/2006/relationships/image" Target="../media/image74.png"/><Relationship Id="rId59" Type="http://schemas.openxmlformats.org/officeDocument/2006/relationships/image" Target="file:///C:\Users\MrJia\OneDrive%20-%20The%20Pennsylvania%20State%20University\Research\Z250307D_ActiveCACS\code\floquet\fig\FloquetHop_250514C_Post_Qy2y1TuneM1i.png" TargetMode="External"/><Relationship Id="rId67" Type="http://schemas.openxmlformats.org/officeDocument/2006/relationships/image" Target="../media/image66.png"/><Relationship Id="rId20" Type="http://schemas.openxmlformats.org/officeDocument/2006/relationships/tags" Target="../tags/tag84.xml"/><Relationship Id="rId41" Type="http://schemas.openxmlformats.org/officeDocument/2006/relationships/image" Target="../media/image44.png"/><Relationship Id="rId54" Type="http://schemas.openxmlformats.org/officeDocument/2006/relationships/image" Target="../media/image56.png"/><Relationship Id="rId62" Type="http://schemas.openxmlformats.org/officeDocument/2006/relationships/image" Target="../media/image80.png"/><Relationship Id="rId70" Type="http://schemas.openxmlformats.org/officeDocument/2006/relationships/image" Target="../media/image69.png"/><Relationship Id="rId75" Type="http://schemas.openxmlformats.org/officeDocument/2006/relationships/image" Target="../media/image86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tags" Target="../tags/tag100.xml"/><Relationship Id="rId49" Type="http://schemas.openxmlformats.org/officeDocument/2006/relationships/image" Target="../media/image52.png"/><Relationship Id="rId57" Type="http://schemas.openxmlformats.org/officeDocument/2006/relationships/image" Target="../media/image77.png"/><Relationship Id="rId10" Type="http://schemas.openxmlformats.org/officeDocument/2006/relationships/tags" Target="../tags/tag74.xml"/><Relationship Id="rId31" Type="http://schemas.openxmlformats.org/officeDocument/2006/relationships/tags" Target="../tags/tag95.xml"/><Relationship Id="rId44" Type="http://schemas.openxmlformats.org/officeDocument/2006/relationships/image" Target="../media/image47.png"/><Relationship Id="rId52" Type="http://schemas.openxmlformats.org/officeDocument/2006/relationships/image" Target="../media/image54.png"/><Relationship Id="rId60" Type="http://schemas.openxmlformats.org/officeDocument/2006/relationships/image" Target="../media/image79.png"/><Relationship Id="rId65" Type="http://schemas.openxmlformats.org/officeDocument/2006/relationships/image" Target="file:///C:\Users\MrJia\OneDrive%20-%20The%20Pennsylvania%20State%20University\Research\Z250307D_ActiveCACS\code\floquet\fig\FloquetHop_250514C_Post_Qy2y1FloquetSquare_Freq.png" TargetMode="External"/><Relationship Id="rId73" Type="http://schemas.openxmlformats.org/officeDocument/2006/relationships/image" Target="../media/image84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39" Type="http://schemas.openxmlformats.org/officeDocument/2006/relationships/image" Target="../media/image42.png"/><Relationship Id="rId34" Type="http://schemas.openxmlformats.org/officeDocument/2006/relationships/tags" Target="../tags/tag98.xml"/><Relationship Id="rId50" Type="http://schemas.openxmlformats.org/officeDocument/2006/relationships/image" Target="../media/image76.png"/><Relationship Id="rId55" Type="http://schemas.openxmlformats.org/officeDocument/2006/relationships/image" Target="../media/image57.png"/><Relationship Id="rId7" Type="http://schemas.openxmlformats.org/officeDocument/2006/relationships/tags" Target="../tags/tag71.xml"/><Relationship Id="rId7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1.png"/><Relationship Id="rId3" Type="http://schemas.openxmlformats.org/officeDocument/2006/relationships/tags" Target="../tags/tag10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90.png"/><Relationship Id="rId2" Type="http://schemas.openxmlformats.org/officeDocument/2006/relationships/tags" Target="../tags/tag102.xml"/><Relationship Id="rId16" Type="http://schemas.openxmlformats.org/officeDocument/2006/relationships/image" Target="../media/image94.png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image" Target="../media/image89.png"/><Relationship Id="rId5" Type="http://schemas.openxmlformats.org/officeDocument/2006/relationships/tags" Target="../tags/tag105.xml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tags" Target="../tags/tag104.xml"/><Relationship Id="rId9" Type="http://schemas.openxmlformats.org/officeDocument/2006/relationships/image" Target="file:///C:\Users\MrJia\OneDrive%20-%20The%20Pennsylvania%20State%20University\Research\Z250307D_ActiveCACS\fig\SketchThreeCavity_240717A2.png" TargetMode="External"/><Relationship Id="rId14" Type="http://schemas.openxmlformats.org/officeDocument/2006/relationships/image" Target="../media/image9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99.png"/><Relationship Id="rId3" Type="http://schemas.openxmlformats.org/officeDocument/2006/relationships/tags" Target="../tags/tag109.xml"/><Relationship Id="rId7" Type="http://schemas.openxmlformats.org/officeDocument/2006/relationships/image" Target="../media/image95.png"/><Relationship Id="rId12" Type="http://schemas.openxmlformats.org/officeDocument/2006/relationships/image" Target="../media/image98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7.png"/><Relationship Id="rId5" Type="http://schemas.openxmlformats.org/officeDocument/2006/relationships/tags" Target="../tags/tag111.xml"/><Relationship Id="rId15" Type="http://schemas.openxmlformats.org/officeDocument/2006/relationships/image" Target="../media/image101.png"/><Relationship Id="rId10" Type="http://schemas.openxmlformats.org/officeDocument/2006/relationships/image" Target="../media/image5.png"/><Relationship Id="rId4" Type="http://schemas.openxmlformats.org/officeDocument/2006/relationships/tags" Target="../tags/tag110.xml"/><Relationship Id="rId9" Type="http://schemas.openxmlformats.org/officeDocument/2006/relationships/image" Target="../media/image4.png"/><Relationship Id="rId1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notesSlide" Target="../notesSlides/notesSlide3.xml"/><Relationship Id="rId18" Type="http://schemas.openxmlformats.org/officeDocument/2006/relationships/image" Target="../media/image106.png"/><Relationship Id="rId26" Type="http://schemas.openxmlformats.org/officeDocument/2006/relationships/image" Target="../media/image114.png"/><Relationship Id="rId3" Type="http://schemas.openxmlformats.org/officeDocument/2006/relationships/tags" Target="../tags/tag114.xml"/><Relationship Id="rId21" Type="http://schemas.openxmlformats.org/officeDocument/2006/relationships/image" Target="../media/image109.png"/><Relationship Id="rId7" Type="http://schemas.openxmlformats.org/officeDocument/2006/relationships/tags" Target="../tags/tag118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105.png"/><Relationship Id="rId25" Type="http://schemas.openxmlformats.org/officeDocument/2006/relationships/image" Target="../media/image113.png"/><Relationship Id="rId2" Type="http://schemas.openxmlformats.org/officeDocument/2006/relationships/tags" Target="../tags/tag113.xml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29" Type="http://schemas.openxmlformats.org/officeDocument/2006/relationships/image" Target="../media/image117.png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24" Type="http://schemas.openxmlformats.org/officeDocument/2006/relationships/image" Target="../media/image112.png"/><Relationship Id="rId5" Type="http://schemas.openxmlformats.org/officeDocument/2006/relationships/tags" Target="../tags/tag116.xml"/><Relationship Id="rId15" Type="http://schemas.openxmlformats.org/officeDocument/2006/relationships/image" Target="../media/image103.png"/><Relationship Id="rId23" Type="http://schemas.openxmlformats.org/officeDocument/2006/relationships/image" Target="../media/image111.png"/><Relationship Id="rId28" Type="http://schemas.openxmlformats.org/officeDocument/2006/relationships/image" Target="../media/image116.svg"/><Relationship Id="rId10" Type="http://schemas.openxmlformats.org/officeDocument/2006/relationships/tags" Target="../tags/tag121.xml"/><Relationship Id="rId19" Type="http://schemas.openxmlformats.org/officeDocument/2006/relationships/image" Target="../media/image107.png"/><Relationship Id="rId31" Type="http://schemas.openxmlformats.org/officeDocument/2006/relationships/image" Target="../media/image119.png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image" Target="../media/image102.png"/><Relationship Id="rId22" Type="http://schemas.openxmlformats.org/officeDocument/2006/relationships/image" Target="../media/image110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tags" Target="../tags/tag125.xml"/><Relationship Id="rId7" Type="http://schemas.openxmlformats.org/officeDocument/2006/relationships/image" Target="../media/image120.png"/><Relationship Id="rId12" Type="http://schemas.openxmlformats.org/officeDocument/2006/relationships/image" Target="../media/image124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23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.png"/><Relationship Id="rId4" Type="http://schemas.openxmlformats.org/officeDocument/2006/relationships/tags" Target="../tags/tag126.xml"/><Relationship Id="rId9" Type="http://schemas.openxmlformats.org/officeDocument/2006/relationships/image" Target="../media/image1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7.png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notesSlide" Target="../notesSlides/notesSlid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tags" Target="../tags/tag13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32.png"/><Relationship Id="rId2" Type="http://schemas.openxmlformats.org/officeDocument/2006/relationships/tags" Target="../tags/tag130.xml"/><Relationship Id="rId16" Type="http://schemas.openxmlformats.org/officeDocument/2006/relationships/image" Target="../media/image136.png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image" Target="../media/image131.png"/><Relationship Id="rId5" Type="http://schemas.openxmlformats.org/officeDocument/2006/relationships/tags" Target="../tags/tag133.xml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4" Type="http://schemas.openxmlformats.org/officeDocument/2006/relationships/tags" Target="../tags/tag132.xml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3.png"/><Relationship Id="rId3" Type="http://schemas.openxmlformats.org/officeDocument/2006/relationships/tags" Target="../tags/tag137.xml"/><Relationship Id="rId7" Type="http://schemas.openxmlformats.org/officeDocument/2006/relationships/image" Target="../media/image137.png"/><Relationship Id="rId12" Type="http://schemas.openxmlformats.org/officeDocument/2006/relationships/image" Target="../media/image136.png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5.png"/><Relationship Id="rId5" Type="http://schemas.openxmlformats.org/officeDocument/2006/relationships/tags" Target="../tags/tag139.xml"/><Relationship Id="rId10" Type="http://schemas.openxmlformats.org/officeDocument/2006/relationships/image" Target="../media/image134.png"/><Relationship Id="rId4" Type="http://schemas.openxmlformats.org/officeDocument/2006/relationships/tags" Target="../tags/tag138.xml"/><Relationship Id="rId9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2.png"/><Relationship Id="rId3" Type="http://schemas.openxmlformats.org/officeDocument/2006/relationships/tags" Target="../tags/tag142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41.png"/><Relationship Id="rId2" Type="http://schemas.openxmlformats.org/officeDocument/2006/relationships/tags" Target="../tags/tag141.xml"/><Relationship Id="rId16" Type="http://schemas.openxmlformats.org/officeDocument/2006/relationships/image" Target="../media/image145.png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image" Target="../media/image140.png"/><Relationship Id="rId5" Type="http://schemas.openxmlformats.org/officeDocument/2006/relationships/tags" Target="../tags/tag144.xml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4" Type="http://schemas.openxmlformats.org/officeDocument/2006/relationships/tags" Target="../tags/tag143.xml"/><Relationship Id="rId9" Type="http://schemas.openxmlformats.org/officeDocument/2006/relationships/image" Target="../media/image4.png"/><Relationship Id="rId14" Type="http://schemas.openxmlformats.org/officeDocument/2006/relationships/image" Target="../media/image1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tags" Target="../tags/tag148.xml"/><Relationship Id="rId7" Type="http://schemas.openxmlformats.org/officeDocument/2006/relationships/image" Target="../media/image147.png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50.png"/><Relationship Id="rId4" Type="http://schemas.openxmlformats.org/officeDocument/2006/relationships/tags" Target="../tags/tag149.xml"/><Relationship Id="rId9" Type="http://schemas.openxmlformats.org/officeDocument/2006/relationships/image" Target="../media/image1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0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image" Target="../media/image149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0.png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image" Target="../media/image155.png"/><Relationship Id="rId5" Type="http://schemas.openxmlformats.org/officeDocument/2006/relationships/image" Target="../media/image152.png"/><Relationship Id="rId4" Type="http://schemas.openxmlformats.org/officeDocument/2006/relationships/image" Target="../media/image1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tags" Target="../tags/tag156.xml"/><Relationship Id="rId7" Type="http://schemas.openxmlformats.org/officeDocument/2006/relationships/image" Target="../media/image4.pn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2.xml"/><Relationship Id="rId9" Type="http://schemas.openxmlformats.org/officeDocument/2006/relationships/image" Target="file:///C:\Users\MrJia\OneDrive%20-%20The%20Pennsylvania%20State%20University\Research\Z250307D_ActiveCACS\fig\SketchThreeCavity_240717A2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4831-6CC6-9733-288E-2C09A27B1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141" y="1526968"/>
            <a:ext cx="11278998" cy="1639218"/>
          </a:xfrm>
        </p:spPr>
        <p:txBody>
          <a:bodyPr>
            <a:noAutofit/>
          </a:bodyPr>
          <a:lstStyle/>
          <a:p>
            <a:r>
              <a:rPr lang="en-US" sz="4800" dirty="0"/>
              <a:t>Experimental Realization and Probing of Higher-Dimensional Non-Hermitian Acoustic Lattices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5795F-B90D-8A99-B07C-D50B8A4AA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4507"/>
            <a:ext cx="9144000" cy="2224116"/>
          </a:xfrm>
        </p:spPr>
        <p:txBody>
          <a:bodyPr>
            <a:normAutofit/>
          </a:bodyPr>
          <a:lstStyle/>
          <a:p>
            <a:r>
              <a:rPr lang="en-US" altLang="zh-CN" b="1" u="sng" dirty="0"/>
              <a:t>Jia-Xin Zhong</a:t>
            </a:r>
            <a:r>
              <a:rPr lang="en-US" altLang="zh-CN" dirty="0"/>
              <a:t>, </a:t>
            </a:r>
            <a:r>
              <a:rPr lang="en-US" altLang="zh-CN" dirty="0" err="1"/>
              <a:t>Jeewoo</a:t>
            </a:r>
            <a:r>
              <a:rPr lang="en-US" altLang="zh-CN" dirty="0"/>
              <a:t> Kim, Yun Jing</a:t>
            </a:r>
          </a:p>
          <a:p>
            <a:endParaRPr lang="en-US" altLang="zh-CN" dirty="0"/>
          </a:p>
          <a:p>
            <a:r>
              <a:rPr lang="en-US" dirty="0"/>
              <a:t>Graduate Program in Acoustics, The Pennsylvania State University</a:t>
            </a:r>
          </a:p>
          <a:p>
            <a:r>
              <a:rPr lang="en-US" dirty="0"/>
              <a:t>May 23,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C10D9-658E-A831-3986-BD0D68D4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484E6-1863-D792-BE53-F0D5F921F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698" y="5658620"/>
            <a:ext cx="2564081" cy="796275"/>
          </a:xfrm>
          <a:prstGeom prst="rect">
            <a:avLst/>
          </a:prstGeom>
        </p:spPr>
      </p:pic>
      <p:pic>
        <p:nvPicPr>
          <p:cNvPr id="7" name="Picture 6" descr="A logo for a company&#10;&#10;Description automatically generated">
            <a:extLst>
              <a:ext uri="{FF2B5EF4-FFF2-40B4-BE49-F238E27FC236}">
                <a16:creationId xmlns:a16="http://schemas.microsoft.com/office/drawing/2014/main" id="{2831628D-67FA-44D5-95DC-B257063CD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7" y="5331032"/>
            <a:ext cx="3046413" cy="137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9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C7D0-9DBE-DE7C-3EC3-89197ECE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2</a:t>
            </a:fld>
            <a:endParaRPr lang="en-US"/>
          </a:p>
        </p:txBody>
      </p:sp>
      <p:pic>
        <p:nvPicPr>
          <p:cNvPr id="13" name="Picture 12" descr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Outline&#10;\end{document}" title="IguanaTex Bitmap Display">
            <a:extLst>
              <a:ext uri="{FF2B5EF4-FFF2-40B4-BE49-F238E27FC236}">
                <a16:creationId xmlns:a16="http://schemas.microsoft.com/office/drawing/2014/main" id="{3C1AE3D8-54BD-99EE-ADD5-628FBFD6F9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1" y="258780"/>
            <a:ext cx="962084" cy="2487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9B30C0-75FD-5DB6-CB38-91F5245E0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160" y="2752788"/>
            <a:ext cx="4739640" cy="31578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4C7C14-BE36-7E53-1903-647B68EB5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7" y="2747186"/>
            <a:ext cx="4595263" cy="3163406"/>
          </a:xfrm>
          <a:prstGeom prst="rect">
            <a:avLst/>
          </a:prstGeom>
        </p:spPr>
      </p:pic>
      <p:pic>
        <p:nvPicPr>
          <p:cNvPr id="5" name="Picture 4" descr="\documentclass{article}&#10;\pagestyle{empty}&#10;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begin{itemize}&#10;\item Tunable and reconfigurable active acoustic lattices&#10;\item Experimentally probing eigenenergies and eigenstates of non-Hermitian systems&#10;\item Observation of dislocation bound states and skin effects in non-Hermitian Chern insulator&#10;\end{itemize}&#10;\end{document}" title="IguanaTex Bitmap Display">
            <a:extLst>
              <a:ext uri="{FF2B5EF4-FFF2-40B4-BE49-F238E27FC236}">
                <a16:creationId xmlns:a16="http://schemas.microsoft.com/office/drawing/2014/main" id="{BFCF8259-B8B5-1108-77CA-91CA0EC760B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58" y="980734"/>
            <a:ext cx="10268619" cy="8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00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C7D0-9DBE-DE7C-3EC3-89197ECE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6605" y="6400824"/>
            <a:ext cx="2743200" cy="365125"/>
          </a:xfrm>
        </p:spPr>
        <p:txBody>
          <a:bodyPr/>
          <a:lstStyle/>
          <a:p>
            <a:fld id="{32395700-1EA4-4240-B477-EEAA4F45B3E6}" type="slidenum">
              <a:rPr lang="en-US" smtClean="0"/>
              <a:t>3</a:t>
            </a:fld>
            <a:endParaRPr lang="en-US"/>
          </a:p>
        </p:txBody>
      </p:sp>
      <p:pic>
        <p:nvPicPr>
          <p:cNvPr id="12" name="Picture 1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Coupled acoustic cavity system (CACS)&#10;\end{document}">
            <a:extLst>
              <a:ext uri="{FF2B5EF4-FFF2-40B4-BE49-F238E27FC236}">
                <a16:creationId xmlns:a16="http://schemas.microsoft.com/office/drawing/2014/main" id="{C735A4F9-FE79-FA47-C592-B106E7D9F52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20" y="205290"/>
            <a:ext cx="5269508" cy="331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85217C-965D-A172-3CBE-202771820BE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553" y="2491273"/>
            <a:ext cx="2981906" cy="23653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D4B72C-95F1-05E0-388D-483CC2005FE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7723" y="1393493"/>
            <a:ext cx="3597269" cy="4214446"/>
          </a:xfrm>
          <a:prstGeom prst="rect">
            <a:avLst/>
          </a:prstGeom>
        </p:spPr>
      </p:pic>
      <p:pic>
        <p:nvPicPr>
          <p:cNvPr id="16" name="Picture 15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ang et al., Nat. Commun. 12, 1 (2021)&#10;\end{document}">
            <a:extLst>
              <a:ext uri="{FF2B5EF4-FFF2-40B4-BE49-F238E27FC236}">
                <a16:creationId xmlns:a16="http://schemas.microsoft.com/office/drawing/2014/main" id="{836DCDBD-013F-8B6D-6114-F3830B8DB8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357" y="5719665"/>
            <a:ext cx="3752002" cy="217290"/>
          </a:xfrm>
          <a:prstGeom prst="rect">
            <a:avLst/>
          </a:prstGeom>
        </p:spPr>
      </p:pic>
      <p:pic>
        <p:nvPicPr>
          <p:cNvPr id="20" name="Picture 1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H = \mqty[\omega_1 &amp; \kappa_0 \\ \kappa_0 &amp; \omega_2]&#10;\]&#10;\end{document}">
            <a:extLst>
              <a:ext uri="{FF2B5EF4-FFF2-40B4-BE49-F238E27FC236}">
                <a16:creationId xmlns:a16="http://schemas.microsoft.com/office/drawing/2014/main" id="{6EB34A1C-D410-CD90-B444-CDBEF7038BB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095" y="854995"/>
            <a:ext cx="1308384" cy="614563"/>
          </a:xfrm>
          <a:prstGeom prst="rect">
            <a:avLst/>
          </a:prstGeom>
        </p:spPr>
      </p:pic>
      <p:pic>
        <p:nvPicPr>
          <p:cNvPr id="23" name="Picture 22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H = \mqty[\omega_1 &amp; \kappa_0 \\ \kappa_0+\kappa_\mathrm{a} &amp; \omega_2]&#10;\]&#10;\end{document}">
            <a:extLst>
              <a:ext uri="{FF2B5EF4-FFF2-40B4-BE49-F238E27FC236}">
                <a16:creationId xmlns:a16="http://schemas.microsoft.com/office/drawing/2014/main" id="{630D2A67-8C49-005A-B7F2-C5251DC5270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123" y="723067"/>
            <a:ext cx="1774183" cy="6145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B33BC5-EF4F-12CB-E624-606768BC9D6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75010" y="1439919"/>
            <a:ext cx="3882824" cy="3978161"/>
          </a:xfrm>
          <a:prstGeom prst="rect">
            <a:avLst/>
          </a:prstGeom>
        </p:spPr>
      </p:pic>
      <p:pic>
        <p:nvPicPr>
          <p:cNvPr id="29" name="Picture 2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Reciprocal hoppings&#10;\end{document}">
            <a:extLst>
              <a:ext uri="{FF2B5EF4-FFF2-40B4-BE49-F238E27FC236}">
                <a16:creationId xmlns:a16="http://schemas.microsoft.com/office/drawing/2014/main" id="{176104D5-EA88-DAD5-7AF3-BE570E8B689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43" y="5136471"/>
            <a:ext cx="2196391" cy="249971"/>
          </a:xfrm>
          <a:prstGeom prst="rect">
            <a:avLst/>
          </a:prstGeom>
        </p:spPr>
      </p:pic>
      <p:pic>
        <p:nvPicPr>
          <p:cNvPr id="32" name="Picture 3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Nonreciprocal hoppings&#10;\end{document}">
            <a:extLst>
              <a:ext uri="{FF2B5EF4-FFF2-40B4-BE49-F238E27FC236}">
                <a16:creationId xmlns:a16="http://schemas.microsoft.com/office/drawing/2014/main" id="{0CDBFA7B-5E76-014C-494D-BBF1BC2E986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397" y="6150853"/>
            <a:ext cx="2575920" cy="249971"/>
          </a:xfrm>
          <a:prstGeom prst="rect">
            <a:avLst/>
          </a:prstGeom>
        </p:spPr>
      </p:pic>
      <p:pic>
        <p:nvPicPr>
          <p:cNvPr id="34" name="Picture 3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Reciprocal&#10;\end{document}">
            <a:extLst>
              <a:ext uri="{FF2B5EF4-FFF2-40B4-BE49-F238E27FC236}">
                <a16:creationId xmlns:a16="http://schemas.microsoft.com/office/drawing/2014/main" id="{03B4C618-CFB8-AA34-B793-977876AFA25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564" y="1676921"/>
            <a:ext cx="886482" cy="197538"/>
          </a:xfrm>
          <a:prstGeom prst="rect">
            <a:avLst/>
          </a:prstGeom>
        </p:spPr>
      </p:pic>
      <p:pic>
        <p:nvPicPr>
          <p:cNvPr id="37" name="Picture 36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Nonreciprocal&#10;\end{document}">
            <a:extLst>
              <a:ext uri="{FF2B5EF4-FFF2-40B4-BE49-F238E27FC236}">
                <a16:creationId xmlns:a16="http://schemas.microsoft.com/office/drawing/2014/main" id="{53F1B91A-CDFA-4FA6-259C-3845F801AF2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160" y="3401947"/>
            <a:ext cx="1188886" cy="197538"/>
          </a:xfrm>
          <a:prstGeom prst="rect">
            <a:avLst/>
          </a:prstGeom>
        </p:spPr>
      </p:pic>
      <p:pic>
        <p:nvPicPr>
          <p:cNvPr id="39" name="Picture 3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Response (Green's function)&#10;\end{document}">
            <a:extLst>
              <a:ext uri="{FF2B5EF4-FFF2-40B4-BE49-F238E27FC236}">
                <a16:creationId xmlns:a16="http://schemas.microsoft.com/office/drawing/2014/main" id="{91D2FC0C-BF8E-02B9-0D9A-D5A53C6343C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2540" y="5552427"/>
            <a:ext cx="3104821" cy="275883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134F5401-6440-276A-DF5C-CF36B39A997C}"/>
              </a:ext>
            </a:extLst>
          </p:cNvPr>
          <p:cNvSpPr/>
          <p:nvPr/>
        </p:nvSpPr>
        <p:spPr>
          <a:xfrm>
            <a:off x="1778294" y="1997313"/>
            <a:ext cx="209528" cy="2095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7A1F294-D533-1AF2-A8F5-CBC798AF7074}"/>
              </a:ext>
            </a:extLst>
          </p:cNvPr>
          <p:cNvSpPr/>
          <p:nvPr/>
        </p:nvSpPr>
        <p:spPr>
          <a:xfrm>
            <a:off x="2647742" y="2001856"/>
            <a:ext cx="209528" cy="20952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A9E849-B716-D30F-6B95-CBFA1A9CC3AE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1987822" y="2102077"/>
            <a:ext cx="659920" cy="4543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1$&#10;&#10;\end{document}">
            <a:extLst>
              <a:ext uri="{FF2B5EF4-FFF2-40B4-BE49-F238E27FC236}">
                <a16:creationId xmlns:a16="http://schemas.microsoft.com/office/drawing/2014/main" id="{EA59FBDE-5462-4C94-2D12-42C28FAAA50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209" y="1812020"/>
            <a:ext cx="204854" cy="132911"/>
          </a:xfrm>
          <a:prstGeom prst="rect">
            <a:avLst/>
          </a:prstGeom>
        </p:spPr>
      </p:pic>
      <p:pic>
        <p:nvPicPr>
          <p:cNvPr id="44" name="Picture 4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2$&#10;&#10;\end{document}">
            <a:extLst>
              <a:ext uri="{FF2B5EF4-FFF2-40B4-BE49-F238E27FC236}">
                <a16:creationId xmlns:a16="http://schemas.microsoft.com/office/drawing/2014/main" id="{38908CB8-CF35-A748-7D68-7AEA8DF8882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67" y="1812021"/>
            <a:ext cx="208512" cy="132911"/>
          </a:xfrm>
          <a:prstGeom prst="rect">
            <a:avLst/>
          </a:prstGeom>
        </p:spPr>
      </p:pic>
      <p:pic>
        <p:nvPicPr>
          <p:cNvPr id="49" name="Picture 48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{0}$&#10;&#10;\end{document}" title="IguanaTex Bitmap Display">
            <a:extLst>
              <a:ext uri="{FF2B5EF4-FFF2-40B4-BE49-F238E27FC236}">
                <a16:creationId xmlns:a16="http://schemas.microsoft.com/office/drawing/2014/main" id="{93459C90-E63A-B1A7-FB03-193BC1A6EAF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522" y="2248923"/>
            <a:ext cx="191441" cy="13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345D1-E48A-D177-852F-39D71FB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onsite potential&#10;\end{document}">
            <a:extLst>
              <a:ext uri="{FF2B5EF4-FFF2-40B4-BE49-F238E27FC236}">
                <a16:creationId xmlns:a16="http://schemas.microsoft.com/office/drawing/2014/main" id="{EF44352B-03E5-9715-B8F7-CBD088780C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44" y="293757"/>
            <a:ext cx="3072813" cy="2999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42B779-529C-953A-06F7-9CECA1F0AB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42" y="1339366"/>
            <a:ext cx="11408116" cy="5016984"/>
          </a:xfrm>
          <a:prstGeom prst="rect">
            <a:avLst/>
          </a:prstGeom>
        </p:spPr>
      </p:pic>
      <p:pic>
        <p:nvPicPr>
          <p:cNvPr id="19" name="Picture 1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G(\omega) = \frac{1}{\omega-\omega_0}&#10;\]&#10;\end{document}">
            <a:extLst>
              <a:ext uri="{FF2B5EF4-FFF2-40B4-BE49-F238E27FC236}">
                <a16:creationId xmlns:a16="http://schemas.microsoft.com/office/drawing/2014/main" id="{89A22B66-F34E-5F23-46CB-ED98C3F8F4A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59" y="677781"/>
            <a:ext cx="1754369" cy="592919"/>
          </a:xfrm>
          <a:prstGeom prst="rect">
            <a:avLst/>
          </a:prstGeom>
        </p:spPr>
      </p:pic>
      <p:pic>
        <p:nvPicPr>
          <p:cNvPr id="17" name="Picture 16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Green's function&#10;\end{document}">
            <a:extLst>
              <a:ext uri="{FF2B5EF4-FFF2-40B4-BE49-F238E27FC236}">
                <a16:creationId xmlns:a16="http://schemas.microsoft.com/office/drawing/2014/main" id="{27530495-636D-5BA3-C454-04C3AA121D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189" y="814944"/>
            <a:ext cx="1786377" cy="201196"/>
          </a:xfrm>
          <a:prstGeom prst="rect">
            <a:avLst/>
          </a:prstGeom>
        </p:spPr>
      </p:pic>
      <p:pic>
        <p:nvPicPr>
          <p:cNvPr id="21" name="Picture 2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Designed frequency: 1036.6\,Hz&#10;&#10;\end{document}">
            <a:extLst>
              <a:ext uri="{FF2B5EF4-FFF2-40B4-BE49-F238E27FC236}">
                <a16:creationId xmlns:a16="http://schemas.microsoft.com/office/drawing/2014/main" id="{61460A80-554A-3F04-BA9A-58522327AB7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665" y="388163"/>
            <a:ext cx="3417285" cy="253019"/>
          </a:xfrm>
          <a:prstGeom prst="rect">
            <a:avLst/>
          </a:prstGeom>
        </p:spPr>
      </p:pic>
      <p:pic>
        <p:nvPicPr>
          <p:cNvPr id="25" name="Picture 24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Small height perturbation $\Delta l = 0.5\,\mathrm{mm}$ $\Longrightarrow$ 1033.2\,Hz&#10;&#10;\end{document}">
            <a:extLst>
              <a:ext uri="{FF2B5EF4-FFF2-40B4-BE49-F238E27FC236}">
                <a16:creationId xmlns:a16="http://schemas.microsoft.com/office/drawing/2014/main" id="{0478990D-51EA-2AA9-0D58-78896EAB3A8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686" y="831669"/>
            <a:ext cx="6130383" cy="256068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E3EA199-D63B-FF16-E541-831A490B4C4F}"/>
              </a:ext>
            </a:extLst>
          </p:cNvPr>
          <p:cNvSpPr/>
          <p:nvPr/>
        </p:nvSpPr>
        <p:spPr>
          <a:xfrm>
            <a:off x="462677" y="911377"/>
            <a:ext cx="209528" cy="2095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Picture 2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0$&#10;&#10;\end{document}">
            <a:extLst>
              <a:ext uri="{FF2B5EF4-FFF2-40B4-BE49-F238E27FC236}">
                <a16:creationId xmlns:a16="http://schemas.microsoft.com/office/drawing/2014/main" id="{C984139F-7B23-83D2-B179-97E96B2BA1A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92" y="726084"/>
            <a:ext cx="210951" cy="136569"/>
          </a:xfrm>
          <a:prstGeom prst="rect">
            <a:avLst/>
          </a:prstGeom>
        </p:spPr>
      </p:pic>
      <p:pic>
        <p:nvPicPr>
          <p:cNvPr id="32" name="Picture 3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H=\omega_0&#10;\]&#10;\end{document}">
            <a:extLst>
              <a:ext uri="{FF2B5EF4-FFF2-40B4-BE49-F238E27FC236}">
                <a16:creationId xmlns:a16="http://schemas.microsoft.com/office/drawing/2014/main" id="{357C00D1-E3ED-921F-1C13-791C2A5FAEF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40" y="898776"/>
            <a:ext cx="855084" cy="234729"/>
          </a:xfrm>
          <a:prstGeom prst="rect">
            <a:avLst/>
          </a:prstGeom>
        </p:spPr>
      </p:pic>
      <p:pic>
        <p:nvPicPr>
          <p:cNvPr id="34" name="Picture 3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0 \in \mathbb{C}$&#10;\end{document}">
            <a:extLst>
              <a:ext uri="{FF2B5EF4-FFF2-40B4-BE49-F238E27FC236}">
                <a16:creationId xmlns:a16="http://schemas.microsoft.com/office/drawing/2014/main" id="{9D8A83EE-6AE8-68A3-673D-98050A54A80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040" y="293757"/>
            <a:ext cx="792591" cy="23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D4D21-AC1B-E0A8-2C6D-ABEE29F4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hoppings&#10;\end{document}">
            <a:extLst>
              <a:ext uri="{FF2B5EF4-FFF2-40B4-BE49-F238E27FC236}">
                <a16:creationId xmlns:a16="http://schemas.microsoft.com/office/drawing/2014/main" id="{421CD58D-E7FD-0E12-89CA-F0BB190AC2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44" y="293759"/>
            <a:ext cx="2204011" cy="2999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46622F-2AFC-B75C-8E8D-4D2444C82B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836" y="1596461"/>
            <a:ext cx="11726328" cy="458506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637133E-0C2F-1F4A-E45A-5BC403AA69DA}"/>
              </a:ext>
            </a:extLst>
          </p:cNvPr>
          <p:cNvSpPr/>
          <p:nvPr/>
        </p:nvSpPr>
        <p:spPr>
          <a:xfrm>
            <a:off x="826720" y="993140"/>
            <a:ext cx="229704" cy="2297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EA5CA9-5758-0F8A-CB13-A4082B2246C9}"/>
              </a:ext>
            </a:extLst>
          </p:cNvPr>
          <p:cNvSpPr/>
          <p:nvPr/>
        </p:nvSpPr>
        <p:spPr>
          <a:xfrm>
            <a:off x="1721498" y="993140"/>
            <a:ext cx="229704" cy="2297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2 $&#10;\end{document}">
            <a:extLst>
              <a:ext uri="{FF2B5EF4-FFF2-40B4-BE49-F238E27FC236}">
                <a16:creationId xmlns:a16="http://schemas.microsoft.com/office/drawing/2014/main" id="{3BA607C5-4BA0-F91F-6D4F-0DD6603FE62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647" y="1288730"/>
            <a:ext cx="208512" cy="13291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DB4DE9-E593-085F-16D4-CC3D76BA9979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1056424" y="1107992"/>
            <a:ext cx="66507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0 $&#10;\end{document}">
            <a:extLst>
              <a:ext uri="{FF2B5EF4-FFF2-40B4-BE49-F238E27FC236}">
                <a16:creationId xmlns:a16="http://schemas.microsoft.com/office/drawing/2014/main" id="{31C71733-F8F4-1ACC-7F21-EC97E98DA7F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40" y="872942"/>
            <a:ext cx="191441" cy="136569"/>
          </a:xfrm>
          <a:prstGeom prst="rect">
            <a:avLst/>
          </a:prstGeom>
        </p:spPr>
      </p:pic>
      <p:pic>
        <p:nvPicPr>
          <p:cNvPr id="17" name="Picture 16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psi_1$&#10;\end{document}">
            <a:extLst>
              <a:ext uri="{FF2B5EF4-FFF2-40B4-BE49-F238E27FC236}">
                <a16:creationId xmlns:a16="http://schemas.microsoft.com/office/drawing/2014/main" id="{6DE0010B-356B-1EE5-B4F9-23C9E563F9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75" y="1022867"/>
            <a:ext cx="207293" cy="199977"/>
          </a:xfrm>
          <a:prstGeom prst="rect">
            <a:avLst/>
          </a:prstGeom>
        </p:spPr>
      </p:pic>
      <p:pic>
        <p:nvPicPr>
          <p:cNvPr id="18" name="Picture 17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psi_2$&#10;\end{document}">
            <a:extLst>
              <a:ext uri="{FF2B5EF4-FFF2-40B4-BE49-F238E27FC236}">
                <a16:creationId xmlns:a16="http://schemas.microsoft.com/office/drawing/2014/main" id="{8B9610BE-1C90-7BCE-654E-F64620C5C6A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119" y="993140"/>
            <a:ext cx="210951" cy="199977"/>
          </a:xfrm>
          <a:prstGeom prst="rect">
            <a:avLst/>
          </a:prstGeom>
        </p:spPr>
      </p:pic>
      <p:pic>
        <p:nvPicPr>
          <p:cNvPr id="24" name="Picture 23" descr="IguanaTex Bitmap Display&#10;&#10;\documentclass{article}&#10;\pagestyle{empty}&#10;% \setlength{\textwidth}{40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&#10;\begin{document}&#10;\[    H = \mqty[\omega_1 &amp; 0 \\ \kappa_0 &amp; \omega_2 ]&#10;\]&#10;&#10;\end{document}">
            <a:extLst>
              <a:ext uri="{FF2B5EF4-FFF2-40B4-BE49-F238E27FC236}">
                <a16:creationId xmlns:a16="http://schemas.microsoft.com/office/drawing/2014/main" id="{B73490AE-8EBC-C8FB-87D6-733F6EEB845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767" y="738523"/>
            <a:ext cx="1308384" cy="614563"/>
          </a:xfrm>
          <a:prstGeom prst="rect">
            <a:avLst/>
          </a:prstGeom>
        </p:spPr>
      </p:pic>
      <p:pic>
        <p:nvPicPr>
          <p:cNvPr id="25" name="Picture 24" descr="IguanaTex Bitmap Display&#10;&#10;\documentclass{article}&#10;\pagestyle{empty}&#10;% \setlength{\textwidth}{40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&#10;\begin{document}&#10;&#10;\[&#10;    \mathrm{i} \dv{\ket{\psi(t)}}{t}&#10;    = H \ket{\psi(t)} + \ket{s(t)}&#10;\]&#10;\end{document}">
            <a:extLst>
              <a:ext uri="{FF2B5EF4-FFF2-40B4-BE49-F238E27FC236}">
                <a16:creationId xmlns:a16="http://schemas.microsoft.com/office/drawing/2014/main" id="{690213F2-C0D6-8192-2C75-8D06E8CE8EB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708" y="293759"/>
            <a:ext cx="2564335" cy="460922"/>
          </a:xfrm>
          <a:prstGeom prst="rect">
            <a:avLst/>
          </a:prstGeom>
        </p:spPr>
      </p:pic>
      <p:pic>
        <p:nvPicPr>
          <p:cNvPr id="29" name="Picture 2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\frac{\psi_2(\omega)}{\psi_1(\omega)} &#10;= &#10;\frac{\kappa_0}{\omega-\omega_2}&#10;\]&#10;\end{document}">
            <a:extLst>
              <a:ext uri="{FF2B5EF4-FFF2-40B4-BE49-F238E27FC236}">
                <a16:creationId xmlns:a16="http://schemas.microsoft.com/office/drawing/2014/main" id="{8F8BF09B-1BD1-387C-35C0-081DA4EF375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68043"/>
            <a:ext cx="1498607" cy="512135"/>
          </a:xfrm>
          <a:prstGeom prst="rect">
            <a:avLst/>
          </a:prstGeom>
        </p:spPr>
      </p:pic>
      <p:pic>
        <p:nvPicPr>
          <p:cNvPr id="27" name="Picture 26" descr="IguanaTex Bitmap Display&#10;&#10;\documentclass{article}&#10;\pagestyle{empty}&#10;% \setlength{\textwidth}{40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&#10;\begin{document}&#10;&#10;\[&#10;\ket{s(t)} = \ket{s} \rme^{-\rmi \omega t } = \psi_\mathrm{in} \mqty[1\\ 0] \rme^{-\rmi \omega t }&#10;\]&#10;\end{document}">
            <a:extLst>
              <a:ext uri="{FF2B5EF4-FFF2-40B4-BE49-F238E27FC236}">
                <a16:creationId xmlns:a16="http://schemas.microsoft.com/office/drawing/2014/main" id="{D93676F2-597C-AB68-234A-1F102B1F5D6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017" y="894488"/>
            <a:ext cx="2815526" cy="61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2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EAD3C2-D93C-97C9-C392-5AD1D0C164D7}"/>
              </a:ext>
            </a:extLst>
          </p:cNvPr>
          <p:cNvCxnSpPr>
            <a:cxnSpLocks/>
          </p:cNvCxnSpPr>
          <p:nvPr/>
        </p:nvCxnSpPr>
        <p:spPr>
          <a:xfrm>
            <a:off x="1037307" y="2317282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6460B8-105A-AC7D-1F1A-F85FFA05C5C9}"/>
              </a:ext>
            </a:extLst>
          </p:cNvPr>
          <p:cNvCxnSpPr>
            <a:cxnSpLocks/>
          </p:cNvCxnSpPr>
          <p:nvPr/>
        </p:nvCxnSpPr>
        <p:spPr>
          <a:xfrm>
            <a:off x="1407373" y="3053856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C8E4283-1028-037F-CCC0-E21A35A7C89E}"/>
              </a:ext>
            </a:extLst>
          </p:cNvPr>
          <p:cNvSpPr/>
          <p:nvPr/>
        </p:nvSpPr>
        <p:spPr>
          <a:xfrm>
            <a:off x="1247133" y="957203"/>
            <a:ext cx="229704" cy="2297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0 + \kappa(t)$&#10;\end{document}" title="IguanaTex Bitmap Display">
            <a:extLst>
              <a:ext uri="{FF2B5EF4-FFF2-40B4-BE49-F238E27FC236}">
                <a16:creationId xmlns:a16="http://schemas.microsoft.com/office/drawing/2014/main" id="{073020A4-C799-1A6C-C63A-A3C7065CCC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93" y="1271001"/>
            <a:ext cx="834049" cy="22070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96C82C-2BDE-783F-235B-C11B8C32F9AB}"/>
              </a:ext>
            </a:extLst>
          </p:cNvPr>
          <p:cNvCxnSpPr>
            <a:cxnSpLocks/>
          </p:cNvCxnSpPr>
          <p:nvPr/>
        </p:nvCxnSpPr>
        <p:spPr>
          <a:xfrm>
            <a:off x="786252" y="2682611"/>
            <a:ext cx="2338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BF3F55-F644-1185-7FE1-9A75705A52F3}"/>
              </a:ext>
            </a:extLst>
          </p:cNvPr>
          <p:cNvCxnSpPr>
            <a:cxnSpLocks/>
          </p:cNvCxnSpPr>
          <p:nvPr/>
        </p:nvCxnSpPr>
        <p:spPr>
          <a:xfrm flipV="1">
            <a:off x="1037307" y="2002169"/>
            <a:ext cx="0" cy="1261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15B61E-F628-A349-A73C-302340DF2D72}"/>
              </a:ext>
            </a:extLst>
          </p:cNvPr>
          <p:cNvCxnSpPr>
            <a:cxnSpLocks/>
          </p:cNvCxnSpPr>
          <p:nvPr/>
        </p:nvCxnSpPr>
        <p:spPr>
          <a:xfrm>
            <a:off x="1411650" y="2573329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08C4D2-1B33-E553-3AFB-022A5BB765B3}"/>
              </a:ext>
            </a:extLst>
          </p:cNvPr>
          <p:cNvCxnSpPr>
            <a:cxnSpLocks/>
          </p:cNvCxnSpPr>
          <p:nvPr/>
        </p:nvCxnSpPr>
        <p:spPr>
          <a:xfrm>
            <a:off x="1785993" y="2573329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6E6DF1-3FB8-5D48-254C-2CEE6FD532C3}"/>
              </a:ext>
            </a:extLst>
          </p:cNvPr>
          <p:cNvCxnSpPr>
            <a:cxnSpLocks/>
          </p:cNvCxnSpPr>
          <p:nvPr/>
        </p:nvCxnSpPr>
        <p:spPr>
          <a:xfrm>
            <a:off x="2160336" y="2573329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7A84F6-53AD-79BC-91E7-ACA42C335425}"/>
              </a:ext>
            </a:extLst>
          </p:cNvPr>
          <p:cNvCxnSpPr>
            <a:cxnSpLocks/>
          </p:cNvCxnSpPr>
          <p:nvPr/>
        </p:nvCxnSpPr>
        <p:spPr>
          <a:xfrm>
            <a:off x="2534679" y="2573329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336FF6-31E6-A5D8-1DC2-CD8D5371C54F}"/>
              </a:ext>
            </a:extLst>
          </p:cNvPr>
          <p:cNvCxnSpPr>
            <a:cxnSpLocks/>
          </p:cNvCxnSpPr>
          <p:nvPr/>
        </p:nvCxnSpPr>
        <p:spPr>
          <a:xfrm>
            <a:off x="2909022" y="2573329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DD2030-30AB-6D61-3BE8-7FDCC342B304}"/>
              </a:ext>
            </a:extLst>
          </p:cNvPr>
          <p:cNvCxnSpPr>
            <a:cxnSpLocks/>
          </p:cNvCxnSpPr>
          <p:nvPr/>
        </p:nvCxnSpPr>
        <p:spPr>
          <a:xfrm>
            <a:off x="1037307" y="2573329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9CF7F5-245A-A24F-BACC-495E001BFD2B}"/>
              </a:ext>
            </a:extLst>
          </p:cNvPr>
          <p:cNvCxnSpPr>
            <a:cxnSpLocks/>
          </p:cNvCxnSpPr>
          <p:nvPr/>
        </p:nvCxnSpPr>
        <p:spPr>
          <a:xfrm>
            <a:off x="1411650" y="2317282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CB166A2-AD3A-6FCC-3DC3-E08C3BB678FD}"/>
              </a:ext>
            </a:extLst>
          </p:cNvPr>
          <p:cNvCxnSpPr>
            <a:cxnSpLocks/>
          </p:cNvCxnSpPr>
          <p:nvPr/>
        </p:nvCxnSpPr>
        <p:spPr>
          <a:xfrm>
            <a:off x="1785993" y="2317282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369BCB-7E54-B545-B8EA-FE9143B0F888}"/>
              </a:ext>
            </a:extLst>
          </p:cNvPr>
          <p:cNvCxnSpPr>
            <a:cxnSpLocks/>
          </p:cNvCxnSpPr>
          <p:nvPr/>
        </p:nvCxnSpPr>
        <p:spPr>
          <a:xfrm>
            <a:off x="2163127" y="2317282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5A0A8A0-3F34-524C-30AF-443BB3873462}"/>
              </a:ext>
            </a:extLst>
          </p:cNvPr>
          <p:cNvCxnSpPr>
            <a:cxnSpLocks/>
          </p:cNvCxnSpPr>
          <p:nvPr/>
        </p:nvCxnSpPr>
        <p:spPr>
          <a:xfrm>
            <a:off x="2534679" y="2317282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1DADF3D-6A84-82C7-376C-1D2B743ADADE}"/>
              </a:ext>
            </a:extLst>
          </p:cNvPr>
          <p:cNvCxnSpPr>
            <a:cxnSpLocks/>
          </p:cNvCxnSpPr>
          <p:nvPr/>
        </p:nvCxnSpPr>
        <p:spPr>
          <a:xfrm>
            <a:off x="2909022" y="2317282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4C8DDA-AB07-6CDD-BFCC-4D6F71A1D77F}"/>
              </a:ext>
            </a:extLst>
          </p:cNvPr>
          <p:cNvCxnSpPr>
            <a:cxnSpLocks/>
          </p:cNvCxnSpPr>
          <p:nvPr/>
        </p:nvCxnSpPr>
        <p:spPr>
          <a:xfrm>
            <a:off x="1790270" y="2317282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1836DC5-6EFC-D9A0-057C-31E052AEF708}"/>
              </a:ext>
            </a:extLst>
          </p:cNvPr>
          <p:cNvCxnSpPr>
            <a:cxnSpLocks/>
          </p:cNvCxnSpPr>
          <p:nvPr/>
        </p:nvCxnSpPr>
        <p:spPr>
          <a:xfrm>
            <a:off x="2538956" y="2317282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478D12-311A-1208-2647-D47B712EA403}"/>
              </a:ext>
            </a:extLst>
          </p:cNvPr>
          <p:cNvCxnSpPr>
            <a:cxnSpLocks/>
          </p:cNvCxnSpPr>
          <p:nvPr/>
        </p:nvCxnSpPr>
        <p:spPr>
          <a:xfrm>
            <a:off x="2164613" y="3045363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0$&#10;\end{document}" title="IguanaTex Bitmap Display">
            <a:extLst>
              <a:ext uri="{FF2B5EF4-FFF2-40B4-BE49-F238E27FC236}">
                <a16:creationId xmlns:a16="http://schemas.microsoft.com/office/drawing/2014/main" id="{3D33C1A4-C18B-9FC8-4F24-43A9E24CA0D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52" y="2251575"/>
            <a:ext cx="191441" cy="136569"/>
          </a:xfrm>
          <a:prstGeom prst="rect">
            <a:avLst/>
          </a:prstGeom>
        </p:spPr>
      </p:pic>
      <p:pic>
        <p:nvPicPr>
          <p:cNvPr id="48" name="Picture 47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\kappa_0$&#10;\end{document}" title="IguanaTex Bitmap Display">
            <a:extLst>
              <a:ext uri="{FF2B5EF4-FFF2-40B4-BE49-F238E27FC236}">
                <a16:creationId xmlns:a16="http://schemas.microsoft.com/office/drawing/2014/main" id="{1AAEE78C-D0BF-00E6-6B8D-FDAA58B980C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76" y="2977079"/>
            <a:ext cx="351178" cy="136569"/>
          </a:xfrm>
          <a:prstGeom prst="rect">
            <a:avLst/>
          </a:prstGeom>
        </p:spPr>
      </p:pic>
      <p:pic>
        <p:nvPicPr>
          <p:cNvPr id="50" name="Picture 49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&#10;\end{document}" title="IguanaTex Bitmap Display">
            <a:extLst>
              <a:ext uri="{FF2B5EF4-FFF2-40B4-BE49-F238E27FC236}">
                <a16:creationId xmlns:a16="http://schemas.microsoft.com/office/drawing/2014/main" id="{A399701D-CBA6-89F5-D42B-525A6C1FD31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610" y="2762112"/>
            <a:ext cx="73162" cy="143886"/>
          </a:xfrm>
          <a:prstGeom prst="rect">
            <a:avLst/>
          </a:prstGeom>
        </p:spPr>
      </p:pic>
      <p:pic>
        <p:nvPicPr>
          <p:cNvPr id="126" name="Picture 125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+T_\mathrm{m}) = \kappa(t)$&#10;\end{document}">
            <a:extLst>
              <a:ext uri="{FF2B5EF4-FFF2-40B4-BE49-F238E27FC236}">
                <a16:creationId xmlns:a16="http://schemas.microsoft.com/office/drawing/2014/main" id="{234280D7-459A-75B4-0C83-D1FE1EB6AF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383" y="625176"/>
            <a:ext cx="1520555" cy="220706"/>
          </a:xfrm>
          <a:prstGeom prst="rect">
            <a:avLst/>
          </a:prstGeom>
        </p:spPr>
      </p:pic>
      <p:pic>
        <p:nvPicPr>
          <p:cNvPr id="54" name="Picture 5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$&#10;\end{document}" title="IguanaTex Bitmap Display">
            <a:extLst>
              <a:ext uri="{FF2B5EF4-FFF2-40B4-BE49-F238E27FC236}">
                <a16:creationId xmlns:a16="http://schemas.microsoft.com/office/drawing/2014/main" id="{EA4B22F5-8B12-A697-4689-D4C4C299F4D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811" y="2723093"/>
            <a:ext cx="253629" cy="182905"/>
          </a:xfrm>
          <a:prstGeom prst="rect">
            <a:avLst/>
          </a:prstGeom>
        </p:spPr>
      </p:pic>
      <p:pic>
        <p:nvPicPr>
          <p:cNvPr id="74" name="Picture 7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In experiments&#10;\end{document}" title="IguanaTex Bitmap Display">
            <a:extLst>
              <a:ext uri="{FF2B5EF4-FFF2-40B4-BE49-F238E27FC236}">
                <a16:creationId xmlns:a16="http://schemas.microsoft.com/office/drawing/2014/main" id="{6263D833-90A9-BB39-5347-5E3FDF4D444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572" y="935261"/>
            <a:ext cx="1285216" cy="197538"/>
          </a:xfrm>
          <a:prstGeom prst="rect">
            <a:avLst/>
          </a:prstGeom>
        </p:spPr>
      </p:pic>
      <p:pic>
        <p:nvPicPr>
          <p:cNvPr id="77" name="Picture 76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{0}=1037.03-6.11\rmi$&#10;\end{document}" title="IguanaTex Bitmap Display">
            <a:extLst>
              <a:ext uri="{FF2B5EF4-FFF2-40B4-BE49-F238E27FC236}">
                <a16:creationId xmlns:a16="http://schemas.microsoft.com/office/drawing/2014/main" id="{70573537-2CB0-8B1D-CC2C-5E5FAC15047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572" y="1198974"/>
            <a:ext cx="1905874" cy="185345"/>
          </a:xfrm>
          <a:prstGeom prst="rect">
            <a:avLst/>
          </a:prstGeom>
        </p:spPr>
      </p:pic>
      <p:pic>
        <p:nvPicPr>
          <p:cNvPr id="86" name="Picture 85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{0} = -0.03 + 2.97\rmi$&#10;\end{document}" title="IguanaTex Bitmap Display">
            <a:extLst>
              <a:ext uri="{FF2B5EF4-FFF2-40B4-BE49-F238E27FC236}">
                <a16:creationId xmlns:a16="http://schemas.microsoft.com/office/drawing/2014/main" id="{96E59666-3536-F70C-7F0B-806B5E15303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573" y="1466497"/>
            <a:ext cx="1732723" cy="185345"/>
          </a:xfrm>
          <a:prstGeom prst="rect">
            <a:avLst/>
          </a:prstGeom>
        </p:spPr>
      </p:pic>
      <p:pic>
        <p:nvPicPr>
          <p:cNvPr id="90" name="Picture 89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 title="IguanaTex Bitmap Display">
            <a:extLst>
              <a:ext uri="{FF2B5EF4-FFF2-40B4-BE49-F238E27FC236}">
                <a16:creationId xmlns:a16="http://schemas.microsoft.com/office/drawing/2014/main" id="{8091A76F-7FCA-9D78-9C51-6BBF597A262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573" y="1724577"/>
            <a:ext cx="940135" cy="182905"/>
          </a:xfrm>
          <a:prstGeom prst="rect">
            <a:avLst/>
          </a:prstGeom>
        </p:spPr>
      </p:pic>
      <p:pic>
        <p:nvPicPr>
          <p:cNvPr id="136" name="Picture 135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onsite freq&#10;\end{document}" title="IguanaTex Bitmap Display">
            <a:extLst>
              <a:ext uri="{FF2B5EF4-FFF2-40B4-BE49-F238E27FC236}">
                <a16:creationId xmlns:a16="http://schemas.microsoft.com/office/drawing/2014/main" id="{E01441F7-7F5E-24D3-FE07-C5B73D62CC8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730" y="288919"/>
            <a:ext cx="1508361" cy="199977"/>
          </a:xfrm>
          <a:prstGeom prst="rect">
            <a:avLst/>
          </a:prstGeom>
        </p:spPr>
      </p:pic>
      <p:pic>
        <p:nvPicPr>
          <p:cNvPr id="124" name="Picture 12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\kappa_0$&#10;\end{document}" title="IguanaTex Bitmap Display">
            <a:extLst>
              <a:ext uri="{FF2B5EF4-FFF2-40B4-BE49-F238E27FC236}">
                <a16:creationId xmlns:a16="http://schemas.microsoft.com/office/drawing/2014/main" id="{2DB783C5-1B61-6B74-D2D5-F286B35FA853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766" y="57276"/>
            <a:ext cx="841365" cy="220706"/>
          </a:xfrm>
          <a:prstGeom prst="rect">
            <a:avLst/>
          </a:prstGeom>
        </p:spPr>
      </p:pic>
      <p:pic>
        <p:nvPicPr>
          <p:cNvPr id="127" name="Picture 126" descr="FloquetOnsite_250514B_Post_Qy1x1Tune3i">
            <a:extLst>
              <a:ext uri="{FF2B5EF4-FFF2-40B4-BE49-F238E27FC236}">
                <a16:creationId xmlns:a16="http://schemas.microsoft.com/office/drawing/2014/main" id="{687E1B62-B823-CF83-BF50-81AB85B7B4C4}"/>
              </a:ext>
            </a:extLst>
          </p:cNvPr>
          <p:cNvPicPr>
            <a:picLocks noChangeAspect="1"/>
          </p:cNvPicPr>
          <p:nvPr/>
        </p:nvPicPr>
        <p:blipFill>
          <a:blip r:embed="rId47" r:link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354" y="802101"/>
            <a:ext cx="2880000" cy="2699279"/>
          </a:xfrm>
          <a:prstGeom prst="rect">
            <a:avLst/>
          </a:prstGeom>
        </p:spPr>
      </p:pic>
      <p:pic>
        <p:nvPicPr>
          <p:cNvPr id="128" name="Picture 127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color=BrewerSetRed}Measured&#10;\end{document}">
            <a:extLst>
              <a:ext uri="{FF2B5EF4-FFF2-40B4-BE49-F238E27FC236}">
                <a16:creationId xmlns:a16="http://schemas.microsoft.com/office/drawing/2014/main" id="{66EC57C6-11DA-C98F-BD60-A73C864B8CC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465" y="2327707"/>
            <a:ext cx="1183246" cy="138703"/>
          </a:xfrm>
          <a:prstGeom prst="rect">
            <a:avLst/>
          </a:prstGeom>
        </p:spPr>
      </p:pic>
      <p:pic>
        <p:nvPicPr>
          <p:cNvPr id="129" name="Picture 12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dashed,color=BrewerSetBlue}Fit&#10;\end{document}">
            <a:extLst>
              <a:ext uri="{FF2B5EF4-FFF2-40B4-BE49-F238E27FC236}">
                <a16:creationId xmlns:a16="http://schemas.microsoft.com/office/drawing/2014/main" id="{0EC96EE3-7ADB-F442-9CFF-F5239B0A28B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465" y="2577336"/>
            <a:ext cx="664709" cy="137636"/>
          </a:xfrm>
          <a:prstGeom prst="rect">
            <a:avLst/>
          </a:prstGeom>
        </p:spPr>
      </p:pic>
      <p:pic>
        <p:nvPicPr>
          <p:cNvPr id="130" name="Picture 12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>
            <a:extLst>
              <a:ext uri="{FF2B5EF4-FFF2-40B4-BE49-F238E27FC236}">
                <a16:creationId xmlns:a16="http://schemas.microsoft.com/office/drawing/2014/main" id="{75F8B6E3-8677-70FB-ADC2-BFB7A4313F35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94074" y="1223818"/>
            <a:ext cx="813015" cy="174980"/>
          </a:xfrm>
          <a:prstGeom prst="rect">
            <a:avLst/>
          </a:prstGeom>
        </p:spPr>
      </p:pic>
      <p:pic>
        <p:nvPicPr>
          <p:cNvPr id="131" name="Picture 13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>
            <a:extLst>
              <a:ext uri="{FF2B5EF4-FFF2-40B4-BE49-F238E27FC236}">
                <a16:creationId xmlns:a16="http://schemas.microsoft.com/office/drawing/2014/main" id="{4BC800E1-9819-F8E6-BE72-2300670834D6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97659" y="2618413"/>
            <a:ext cx="735128" cy="193118"/>
          </a:xfrm>
          <a:prstGeom prst="rect">
            <a:avLst/>
          </a:prstGeom>
        </p:spPr>
      </p:pic>
      <p:pic>
        <p:nvPicPr>
          <p:cNvPr id="132" name="Picture 13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>
            <a:extLst>
              <a:ext uri="{FF2B5EF4-FFF2-40B4-BE49-F238E27FC236}">
                <a16:creationId xmlns:a16="http://schemas.microsoft.com/office/drawing/2014/main" id="{500B9CA2-60A1-B404-257C-59397565206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848" y="3563193"/>
            <a:ext cx="491863" cy="193118"/>
          </a:xfrm>
          <a:prstGeom prst="rect">
            <a:avLst/>
          </a:prstGeom>
        </p:spPr>
      </p:pic>
      <p:pic>
        <p:nvPicPr>
          <p:cNvPr id="138" name="Picture 137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1037.36-3.22\rmi$&#10;\end{document}" title="IguanaTex Bitmap Display">
            <a:extLst>
              <a:ext uri="{FF2B5EF4-FFF2-40B4-BE49-F238E27FC236}">
                <a16:creationId xmlns:a16="http://schemas.microsoft.com/office/drawing/2014/main" id="{F6F97084-7836-2263-24C7-E57B33EC1FEE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675" y="569695"/>
            <a:ext cx="1381545" cy="156079"/>
          </a:xfrm>
          <a:prstGeom prst="rect">
            <a:avLst/>
          </a:prstGeom>
        </p:spPr>
      </p:pic>
      <p:pic>
        <p:nvPicPr>
          <p:cNvPr id="139" name="Picture 138" descr="FloquetOnsite_250514B_Post_Qy1x1TuneM3i">
            <a:extLst>
              <a:ext uri="{FF2B5EF4-FFF2-40B4-BE49-F238E27FC236}">
                <a16:creationId xmlns:a16="http://schemas.microsoft.com/office/drawing/2014/main" id="{72B4CBA3-A488-0B1D-0676-A4BF6B6D614E}"/>
              </a:ext>
            </a:extLst>
          </p:cNvPr>
          <p:cNvPicPr>
            <a:picLocks noChangeAspect="1"/>
          </p:cNvPicPr>
          <p:nvPr/>
        </p:nvPicPr>
        <p:blipFill>
          <a:blip r:embed="rId55" r:link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092" y="802101"/>
            <a:ext cx="2880000" cy="2699279"/>
          </a:xfrm>
          <a:prstGeom prst="rect">
            <a:avLst/>
          </a:prstGeom>
        </p:spPr>
      </p:pic>
      <p:pic>
        <p:nvPicPr>
          <p:cNvPr id="148" name="Picture 147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1036.93-9.24\rmi$&#10;\end{document}" title="IguanaTex Bitmap Display">
            <a:extLst>
              <a:ext uri="{FF2B5EF4-FFF2-40B4-BE49-F238E27FC236}">
                <a16:creationId xmlns:a16="http://schemas.microsoft.com/office/drawing/2014/main" id="{F3A4B1B6-8E78-431E-FD3B-304294E7E750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322" y="601929"/>
            <a:ext cx="1381545" cy="157299"/>
          </a:xfrm>
          <a:prstGeom prst="rect">
            <a:avLst/>
          </a:prstGeom>
        </p:spPr>
      </p:pic>
      <p:pic>
        <p:nvPicPr>
          <p:cNvPr id="141" name="Picture 14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>
            <a:extLst>
              <a:ext uri="{FF2B5EF4-FFF2-40B4-BE49-F238E27FC236}">
                <a16:creationId xmlns:a16="http://schemas.microsoft.com/office/drawing/2014/main" id="{0EA89E63-C10E-D21A-5C23-877CAB41139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02477" y="1279853"/>
            <a:ext cx="813015" cy="174980"/>
          </a:xfrm>
          <a:prstGeom prst="rect">
            <a:avLst/>
          </a:prstGeom>
        </p:spPr>
      </p:pic>
      <p:pic>
        <p:nvPicPr>
          <p:cNvPr id="142" name="Picture 14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>
            <a:extLst>
              <a:ext uri="{FF2B5EF4-FFF2-40B4-BE49-F238E27FC236}">
                <a16:creationId xmlns:a16="http://schemas.microsoft.com/office/drawing/2014/main" id="{CFB9CBBF-E250-BB71-2D8B-83E15FB749FE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44778" y="2690988"/>
            <a:ext cx="735128" cy="193118"/>
          </a:xfrm>
          <a:prstGeom prst="rect">
            <a:avLst/>
          </a:prstGeom>
        </p:spPr>
      </p:pic>
      <p:pic>
        <p:nvPicPr>
          <p:cNvPr id="143" name="Picture 14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onsite freq&#10;\end{document}" title="IguanaTex Bitmap Display">
            <a:extLst>
              <a:ext uri="{FF2B5EF4-FFF2-40B4-BE49-F238E27FC236}">
                <a16:creationId xmlns:a16="http://schemas.microsoft.com/office/drawing/2014/main" id="{0575B7FE-427C-E5B5-9169-6E5D5778E83D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915" y="304402"/>
            <a:ext cx="1508361" cy="199977"/>
          </a:xfrm>
          <a:prstGeom prst="rect">
            <a:avLst/>
          </a:prstGeom>
        </p:spPr>
      </p:pic>
      <p:pic>
        <p:nvPicPr>
          <p:cNvPr id="146" name="Picture 145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-\kappa_0$&#10;\end{document}" title="IguanaTex Bitmap Display">
            <a:extLst>
              <a:ext uri="{FF2B5EF4-FFF2-40B4-BE49-F238E27FC236}">
                <a16:creationId xmlns:a16="http://schemas.microsoft.com/office/drawing/2014/main" id="{607DCA50-7E85-52F5-9F58-92A407A93915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887" y="57276"/>
            <a:ext cx="1008419" cy="220706"/>
          </a:xfrm>
          <a:prstGeom prst="rect">
            <a:avLst/>
          </a:prstGeom>
        </p:spPr>
      </p:pic>
      <p:pic>
        <p:nvPicPr>
          <p:cNvPr id="149" name="Picture 14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>
            <a:extLst>
              <a:ext uri="{FF2B5EF4-FFF2-40B4-BE49-F238E27FC236}">
                <a16:creationId xmlns:a16="http://schemas.microsoft.com/office/drawing/2014/main" id="{A887FE99-C716-E3C6-63D1-BC7E41219495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162" y="3563193"/>
            <a:ext cx="491863" cy="193118"/>
          </a:xfrm>
          <a:prstGeom prst="rect">
            <a:avLst/>
          </a:prstGeom>
        </p:spPr>
      </p:pic>
      <p:pic>
        <p:nvPicPr>
          <p:cNvPr id="151" name="Picture 150" descr="FloquetOnsite_250514B_Post_Qy1x1FloquetSquare_Time">
            <a:extLst>
              <a:ext uri="{FF2B5EF4-FFF2-40B4-BE49-F238E27FC236}">
                <a16:creationId xmlns:a16="http://schemas.microsoft.com/office/drawing/2014/main" id="{9BF1832A-9B76-4D3C-A519-3A2C20011155}"/>
              </a:ext>
            </a:extLst>
          </p:cNvPr>
          <p:cNvPicPr>
            <a:picLocks noChangeAspect="1"/>
          </p:cNvPicPr>
          <p:nvPr/>
        </p:nvPicPr>
        <p:blipFill>
          <a:blip r:embed="rId59" r:link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26" y="4506519"/>
            <a:ext cx="4724009" cy="1755503"/>
          </a:xfrm>
          <a:prstGeom prst="rect">
            <a:avLst/>
          </a:prstGeom>
        </p:spPr>
      </p:pic>
      <p:pic>
        <p:nvPicPr>
          <p:cNvPr id="152" name="Picture 151" descr="FloquetOnsite_250514B_Post_Qy1x1FloquetSquare_Freq">
            <a:extLst>
              <a:ext uri="{FF2B5EF4-FFF2-40B4-BE49-F238E27FC236}">
                <a16:creationId xmlns:a16="http://schemas.microsoft.com/office/drawing/2014/main" id="{D9DAFD8C-B2A8-E0DB-455B-F7E2684FBD84}"/>
              </a:ext>
            </a:extLst>
          </p:cNvPr>
          <p:cNvPicPr>
            <a:picLocks noChangeAspect="1"/>
          </p:cNvPicPr>
          <p:nvPr/>
        </p:nvPicPr>
        <p:blipFill>
          <a:blip r:embed="rId61" r:link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948" y="4506519"/>
            <a:ext cx="4724009" cy="1755503"/>
          </a:xfrm>
          <a:prstGeom prst="rect">
            <a:avLst/>
          </a:prstGeom>
        </p:spPr>
      </p:pic>
      <p:pic>
        <p:nvPicPr>
          <p:cNvPr id="154" name="Picture 15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 [s]&#10;\end{document}">
            <a:extLst>
              <a:ext uri="{FF2B5EF4-FFF2-40B4-BE49-F238E27FC236}">
                <a16:creationId xmlns:a16="http://schemas.microsoft.com/office/drawing/2014/main" id="{D9A524CE-DEAE-0732-FE30-24BCF5CF15D6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791" y="6272084"/>
            <a:ext cx="334107" cy="220706"/>
          </a:xfrm>
          <a:prstGeom prst="rect">
            <a:avLst/>
          </a:prstGeom>
        </p:spPr>
      </p:pic>
      <p:pic>
        <p:nvPicPr>
          <p:cNvPr id="155" name="Picture 154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>
            <a:extLst>
              <a:ext uri="{FF2B5EF4-FFF2-40B4-BE49-F238E27FC236}">
                <a16:creationId xmlns:a16="http://schemas.microsoft.com/office/drawing/2014/main" id="{39892E41-675B-127D-BA60-D00C0D22644C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683" y="6324258"/>
            <a:ext cx="491863" cy="193118"/>
          </a:xfrm>
          <a:prstGeom prst="rect">
            <a:avLst/>
          </a:prstGeom>
        </p:spPr>
      </p:pic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7240509-7BA9-2E1C-E36B-AAD8C6FC22D3}"/>
              </a:ext>
            </a:extLst>
          </p:cNvPr>
          <p:cNvCxnSpPr>
            <a:cxnSpLocks/>
          </p:cNvCxnSpPr>
          <p:nvPr/>
        </p:nvCxnSpPr>
        <p:spPr>
          <a:xfrm flipV="1">
            <a:off x="2897999" y="4236307"/>
            <a:ext cx="0" cy="27021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E61D91B-39BE-97E1-5F70-811483E1C22E}"/>
              </a:ext>
            </a:extLst>
          </p:cNvPr>
          <p:cNvCxnSpPr>
            <a:cxnSpLocks/>
          </p:cNvCxnSpPr>
          <p:nvPr/>
        </p:nvCxnSpPr>
        <p:spPr>
          <a:xfrm flipV="1">
            <a:off x="3754973" y="4236307"/>
            <a:ext cx="0" cy="27021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58786F2-AA40-FD40-CF48-FE2DAE7EC8A5}"/>
              </a:ext>
            </a:extLst>
          </p:cNvPr>
          <p:cNvCxnSpPr>
            <a:cxnSpLocks/>
          </p:cNvCxnSpPr>
          <p:nvPr/>
        </p:nvCxnSpPr>
        <p:spPr>
          <a:xfrm flipH="1">
            <a:off x="2897999" y="4371413"/>
            <a:ext cx="85697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4" name="Picture 16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 title="IguanaTex Bitmap Display">
            <a:extLst>
              <a:ext uri="{FF2B5EF4-FFF2-40B4-BE49-F238E27FC236}">
                <a16:creationId xmlns:a16="http://schemas.microsoft.com/office/drawing/2014/main" id="{AA5C342F-8A9E-D61D-D775-98E61A3B93E7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418" y="4009749"/>
            <a:ext cx="940135" cy="182905"/>
          </a:xfrm>
          <a:prstGeom prst="rect">
            <a:avLst/>
          </a:prstGeom>
        </p:spPr>
      </p:pic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E91C639-4D57-CA04-30C4-E62533C6395F}"/>
              </a:ext>
            </a:extLst>
          </p:cNvPr>
          <p:cNvCxnSpPr>
            <a:cxnSpLocks/>
          </p:cNvCxnSpPr>
          <p:nvPr/>
        </p:nvCxnSpPr>
        <p:spPr>
          <a:xfrm flipV="1">
            <a:off x="9242117" y="5316488"/>
            <a:ext cx="0" cy="27021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6A73A992-57F5-9CAD-5332-AC4FBE1D7FF7}"/>
              </a:ext>
            </a:extLst>
          </p:cNvPr>
          <p:cNvCxnSpPr>
            <a:cxnSpLocks/>
          </p:cNvCxnSpPr>
          <p:nvPr/>
        </p:nvCxnSpPr>
        <p:spPr>
          <a:xfrm flipH="1">
            <a:off x="8717614" y="5451594"/>
            <a:ext cx="524503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" name="Picture 17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\mathrm{m} = 5\,\mathrm{Hz}$&#10;\end{document}" title="IguanaTex Bitmap Display">
            <a:extLst>
              <a:ext uri="{FF2B5EF4-FFF2-40B4-BE49-F238E27FC236}">
                <a16:creationId xmlns:a16="http://schemas.microsoft.com/office/drawing/2014/main" id="{87AF16D7-CE3E-12F7-7378-1FDF9C3F7D4C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58" y="5064811"/>
            <a:ext cx="953548" cy="184124"/>
          </a:xfrm>
          <a:prstGeom prst="rect">
            <a:avLst/>
          </a:prstGeom>
        </p:spPr>
      </p:pic>
      <p:pic>
        <p:nvPicPr>
          <p:cNvPr id="198" name="Picture 197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Single-frequency excitation $\omega=1040\,\mathrm{Hz}$&#10;\end{document}" title="IguanaTex Bitmap Display">
            <a:extLst>
              <a:ext uri="{FF2B5EF4-FFF2-40B4-BE49-F238E27FC236}">
                <a16:creationId xmlns:a16="http://schemas.microsoft.com/office/drawing/2014/main" id="{19000CD8-43B0-B61B-1712-E88592609272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288" y="4104790"/>
            <a:ext cx="3592265" cy="204854"/>
          </a:xfrm>
          <a:prstGeom prst="rect">
            <a:avLst/>
          </a:prstGeom>
        </p:spPr>
      </p:pic>
      <p:pic>
        <p:nvPicPr>
          <p:cNvPr id="193" name="Picture 19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time domain)&#10;\end{document}" title="IguanaTex Bitmap Display">
            <a:extLst>
              <a:ext uri="{FF2B5EF4-FFF2-40B4-BE49-F238E27FC236}">
                <a16:creationId xmlns:a16="http://schemas.microsoft.com/office/drawing/2014/main" id="{AE1F33C5-6FA1-8964-E3A7-CA5F3D00B5AA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120" y="6567961"/>
            <a:ext cx="2748461" cy="220706"/>
          </a:xfrm>
          <a:prstGeom prst="rect">
            <a:avLst/>
          </a:prstGeom>
        </p:spPr>
      </p:pic>
      <p:pic>
        <p:nvPicPr>
          <p:cNvPr id="181" name="Picture 180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frequency domain)&#10;\end{document}" title="IguanaTex Bitmap Display">
            <a:extLst>
              <a:ext uri="{FF2B5EF4-FFF2-40B4-BE49-F238E27FC236}">
                <a16:creationId xmlns:a16="http://schemas.microsoft.com/office/drawing/2014/main" id="{C739BBCF-3A59-8DE7-DD95-07B294BC50A4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421" y="6580018"/>
            <a:ext cx="3208163" cy="220706"/>
          </a:xfrm>
          <a:prstGeom prst="rect">
            <a:avLst/>
          </a:prstGeom>
        </p:spPr>
      </p:pic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D2F2754-1BDB-629B-6E86-CEF158122DA9}"/>
              </a:ext>
            </a:extLst>
          </p:cNvPr>
          <p:cNvCxnSpPr>
            <a:cxnSpLocks/>
          </p:cNvCxnSpPr>
          <p:nvPr/>
        </p:nvCxnSpPr>
        <p:spPr>
          <a:xfrm>
            <a:off x="0" y="3889135"/>
            <a:ext cx="12192000" cy="81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C93569C-C821-A707-CB77-55D7C4EB347B}"/>
              </a:ext>
            </a:extLst>
          </p:cNvPr>
          <p:cNvCxnSpPr>
            <a:cxnSpLocks/>
          </p:cNvCxnSpPr>
          <p:nvPr/>
        </p:nvCxnSpPr>
        <p:spPr>
          <a:xfrm>
            <a:off x="4801638" y="0"/>
            <a:ext cx="17783" cy="388913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AB65833-85E1-6A18-99F1-E17BFBBC18D4}"/>
              </a:ext>
            </a:extLst>
          </p:cNvPr>
          <p:cNvCxnSpPr>
            <a:cxnSpLocks/>
          </p:cNvCxnSpPr>
          <p:nvPr/>
        </p:nvCxnSpPr>
        <p:spPr>
          <a:xfrm>
            <a:off x="8601682" y="0"/>
            <a:ext cx="17783" cy="388913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A00D494D-F787-EDA5-51CC-E69083F32413}"/>
              </a:ext>
            </a:extLst>
          </p:cNvPr>
          <p:cNvCxnSpPr>
            <a:cxnSpLocks/>
          </p:cNvCxnSpPr>
          <p:nvPr/>
        </p:nvCxnSpPr>
        <p:spPr>
          <a:xfrm>
            <a:off x="8101383" y="4283005"/>
            <a:ext cx="616231" cy="306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loquet onsite&#10;\end{document}">
            <a:extLst>
              <a:ext uri="{FF2B5EF4-FFF2-40B4-BE49-F238E27FC236}">
                <a16:creationId xmlns:a16="http://schemas.microsoft.com/office/drawing/2014/main" id="{CEBEE829-C370-5D82-A7A3-1A492FD46137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23" y="556641"/>
            <a:ext cx="1563842" cy="246922"/>
          </a:xfrm>
          <a:prstGeom prst="rect">
            <a:avLst/>
          </a:prstGeom>
        </p:spPr>
      </p:pic>
      <p:pic>
        <p:nvPicPr>
          <p:cNvPr id="7" name="Picture 6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dynamic onsite potentials&#10;\end{document}">
            <a:extLst>
              <a:ext uri="{FF2B5EF4-FFF2-40B4-BE49-F238E27FC236}">
                <a16:creationId xmlns:a16="http://schemas.microsoft.com/office/drawing/2014/main" id="{27720147-1268-CBF3-38B8-B7FEE95DDB92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82" y="164391"/>
            <a:ext cx="4426314" cy="2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5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EAD3C2-D93C-97C9-C392-5AD1D0C164D7}"/>
              </a:ext>
            </a:extLst>
          </p:cNvPr>
          <p:cNvCxnSpPr>
            <a:cxnSpLocks/>
          </p:cNvCxnSpPr>
          <p:nvPr/>
        </p:nvCxnSpPr>
        <p:spPr>
          <a:xfrm>
            <a:off x="852638" y="2271168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6460B8-105A-AC7D-1F1A-F85FFA05C5C9}"/>
              </a:ext>
            </a:extLst>
          </p:cNvPr>
          <p:cNvCxnSpPr>
            <a:cxnSpLocks/>
          </p:cNvCxnSpPr>
          <p:nvPr/>
        </p:nvCxnSpPr>
        <p:spPr>
          <a:xfrm>
            <a:off x="1222704" y="3007742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C8E4283-1028-037F-CCC0-E21A35A7C89E}"/>
              </a:ext>
            </a:extLst>
          </p:cNvPr>
          <p:cNvSpPr/>
          <p:nvPr/>
        </p:nvSpPr>
        <p:spPr>
          <a:xfrm>
            <a:off x="765438" y="1058801"/>
            <a:ext cx="229704" cy="2297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1$&#10;\end{document}" title="IguanaTex Bitmap Display">
            <a:extLst>
              <a:ext uri="{FF2B5EF4-FFF2-40B4-BE49-F238E27FC236}">
                <a16:creationId xmlns:a16="http://schemas.microsoft.com/office/drawing/2014/main" id="{D5650405-5381-235B-AEC1-9CB37F931F9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88" y="1369283"/>
            <a:ext cx="204854" cy="13291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96C82C-2BDE-783F-235B-C11B8C32F9AB}"/>
              </a:ext>
            </a:extLst>
          </p:cNvPr>
          <p:cNvCxnSpPr>
            <a:cxnSpLocks/>
          </p:cNvCxnSpPr>
          <p:nvPr/>
        </p:nvCxnSpPr>
        <p:spPr>
          <a:xfrm>
            <a:off x="601583" y="2636497"/>
            <a:ext cx="23382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BF3F55-F644-1185-7FE1-9A75705A52F3}"/>
              </a:ext>
            </a:extLst>
          </p:cNvPr>
          <p:cNvCxnSpPr>
            <a:cxnSpLocks/>
          </p:cNvCxnSpPr>
          <p:nvPr/>
        </p:nvCxnSpPr>
        <p:spPr>
          <a:xfrm flipV="1">
            <a:off x="852638" y="1956055"/>
            <a:ext cx="0" cy="1261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15B61E-F628-A349-A73C-302340DF2D72}"/>
              </a:ext>
            </a:extLst>
          </p:cNvPr>
          <p:cNvCxnSpPr>
            <a:cxnSpLocks/>
          </p:cNvCxnSpPr>
          <p:nvPr/>
        </p:nvCxnSpPr>
        <p:spPr>
          <a:xfrm>
            <a:off x="1226981" y="2527215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08C4D2-1B33-E553-3AFB-022A5BB765B3}"/>
              </a:ext>
            </a:extLst>
          </p:cNvPr>
          <p:cNvCxnSpPr>
            <a:cxnSpLocks/>
          </p:cNvCxnSpPr>
          <p:nvPr/>
        </p:nvCxnSpPr>
        <p:spPr>
          <a:xfrm>
            <a:off x="1601324" y="2527215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6E6DF1-3FB8-5D48-254C-2CEE6FD532C3}"/>
              </a:ext>
            </a:extLst>
          </p:cNvPr>
          <p:cNvCxnSpPr>
            <a:cxnSpLocks/>
          </p:cNvCxnSpPr>
          <p:nvPr/>
        </p:nvCxnSpPr>
        <p:spPr>
          <a:xfrm>
            <a:off x="1975667" y="2527215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7A84F6-53AD-79BC-91E7-ACA42C335425}"/>
              </a:ext>
            </a:extLst>
          </p:cNvPr>
          <p:cNvCxnSpPr>
            <a:cxnSpLocks/>
          </p:cNvCxnSpPr>
          <p:nvPr/>
        </p:nvCxnSpPr>
        <p:spPr>
          <a:xfrm>
            <a:off x="2350010" y="2527215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336FF6-31E6-A5D8-1DC2-CD8D5371C54F}"/>
              </a:ext>
            </a:extLst>
          </p:cNvPr>
          <p:cNvCxnSpPr>
            <a:cxnSpLocks/>
          </p:cNvCxnSpPr>
          <p:nvPr/>
        </p:nvCxnSpPr>
        <p:spPr>
          <a:xfrm>
            <a:off x="2724353" y="2527215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DD2030-30AB-6D61-3BE8-7FDCC342B304}"/>
              </a:ext>
            </a:extLst>
          </p:cNvPr>
          <p:cNvCxnSpPr>
            <a:cxnSpLocks/>
          </p:cNvCxnSpPr>
          <p:nvPr/>
        </p:nvCxnSpPr>
        <p:spPr>
          <a:xfrm>
            <a:off x="852638" y="2527215"/>
            <a:ext cx="0" cy="1092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9CF7F5-245A-A24F-BACC-495E001BFD2B}"/>
              </a:ext>
            </a:extLst>
          </p:cNvPr>
          <p:cNvCxnSpPr>
            <a:cxnSpLocks/>
          </p:cNvCxnSpPr>
          <p:nvPr/>
        </p:nvCxnSpPr>
        <p:spPr>
          <a:xfrm>
            <a:off x="1226981" y="2271168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CB166A2-AD3A-6FCC-3DC3-E08C3BB678FD}"/>
              </a:ext>
            </a:extLst>
          </p:cNvPr>
          <p:cNvCxnSpPr>
            <a:cxnSpLocks/>
          </p:cNvCxnSpPr>
          <p:nvPr/>
        </p:nvCxnSpPr>
        <p:spPr>
          <a:xfrm>
            <a:off x="1601324" y="2271168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369BCB-7E54-B545-B8EA-FE9143B0F888}"/>
              </a:ext>
            </a:extLst>
          </p:cNvPr>
          <p:cNvCxnSpPr>
            <a:cxnSpLocks/>
          </p:cNvCxnSpPr>
          <p:nvPr/>
        </p:nvCxnSpPr>
        <p:spPr>
          <a:xfrm>
            <a:off x="1978458" y="2271168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5A0A8A0-3F34-524C-30AF-443BB3873462}"/>
              </a:ext>
            </a:extLst>
          </p:cNvPr>
          <p:cNvCxnSpPr>
            <a:cxnSpLocks/>
          </p:cNvCxnSpPr>
          <p:nvPr/>
        </p:nvCxnSpPr>
        <p:spPr>
          <a:xfrm>
            <a:off x="2350010" y="2271168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1DADF3D-6A84-82C7-376C-1D2B743ADADE}"/>
              </a:ext>
            </a:extLst>
          </p:cNvPr>
          <p:cNvCxnSpPr>
            <a:cxnSpLocks/>
          </p:cNvCxnSpPr>
          <p:nvPr/>
        </p:nvCxnSpPr>
        <p:spPr>
          <a:xfrm>
            <a:off x="2724353" y="2271168"/>
            <a:ext cx="0" cy="730658"/>
          </a:xfrm>
          <a:prstGeom prst="straightConnector1">
            <a:avLst/>
          </a:prstGeom>
          <a:ln>
            <a:solidFill>
              <a:schemeClr val="bg1">
                <a:lumMod val="75000"/>
                <a:alpha val="7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4C8DDA-AB07-6CDD-BFCC-4D6F71A1D77F}"/>
              </a:ext>
            </a:extLst>
          </p:cNvPr>
          <p:cNvCxnSpPr>
            <a:cxnSpLocks/>
          </p:cNvCxnSpPr>
          <p:nvPr/>
        </p:nvCxnSpPr>
        <p:spPr>
          <a:xfrm>
            <a:off x="1605601" y="2271168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1836DC5-6EFC-D9A0-057C-31E052AEF708}"/>
              </a:ext>
            </a:extLst>
          </p:cNvPr>
          <p:cNvCxnSpPr>
            <a:cxnSpLocks/>
          </p:cNvCxnSpPr>
          <p:nvPr/>
        </p:nvCxnSpPr>
        <p:spPr>
          <a:xfrm>
            <a:off x="2354287" y="2271168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478D12-311A-1208-2647-D47B712EA403}"/>
              </a:ext>
            </a:extLst>
          </p:cNvPr>
          <p:cNvCxnSpPr>
            <a:cxnSpLocks/>
          </p:cNvCxnSpPr>
          <p:nvPr/>
        </p:nvCxnSpPr>
        <p:spPr>
          <a:xfrm>
            <a:off x="1979944" y="2999249"/>
            <a:ext cx="370066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0$&#10;\end{document}" title="IguanaTex Bitmap Display">
            <a:extLst>
              <a:ext uri="{FF2B5EF4-FFF2-40B4-BE49-F238E27FC236}">
                <a16:creationId xmlns:a16="http://schemas.microsoft.com/office/drawing/2014/main" id="{3D33C1A4-C18B-9FC8-4F24-43A9E24CA0D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83" y="2205461"/>
            <a:ext cx="191441" cy="136569"/>
          </a:xfrm>
          <a:prstGeom prst="rect">
            <a:avLst/>
          </a:prstGeom>
        </p:spPr>
      </p:pic>
      <p:pic>
        <p:nvPicPr>
          <p:cNvPr id="48" name="Picture 47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\kappa_0$&#10;\end{document}" title="IguanaTex Bitmap Display">
            <a:extLst>
              <a:ext uri="{FF2B5EF4-FFF2-40B4-BE49-F238E27FC236}">
                <a16:creationId xmlns:a16="http://schemas.microsoft.com/office/drawing/2014/main" id="{1AAEE78C-D0BF-00E6-6B8D-FDAA58B980C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07" y="2930965"/>
            <a:ext cx="351178" cy="136569"/>
          </a:xfrm>
          <a:prstGeom prst="rect">
            <a:avLst/>
          </a:prstGeom>
        </p:spPr>
      </p:pic>
      <p:pic>
        <p:nvPicPr>
          <p:cNvPr id="50" name="Picture 49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&#10;\end{document}" title="IguanaTex Bitmap Display">
            <a:extLst>
              <a:ext uri="{FF2B5EF4-FFF2-40B4-BE49-F238E27FC236}">
                <a16:creationId xmlns:a16="http://schemas.microsoft.com/office/drawing/2014/main" id="{A399701D-CBA6-89F5-D42B-525A6C1FD31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941" y="2715998"/>
            <a:ext cx="73162" cy="143886"/>
          </a:xfrm>
          <a:prstGeom prst="rect">
            <a:avLst/>
          </a:prstGeom>
        </p:spPr>
      </p:pic>
      <p:pic>
        <p:nvPicPr>
          <p:cNvPr id="126" name="Picture 125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+T_\mathrm{m}) = \kappa(t)$&#10;\end{document}" title="IguanaTex Bitmap Display">
            <a:extLst>
              <a:ext uri="{FF2B5EF4-FFF2-40B4-BE49-F238E27FC236}">
                <a16:creationId xmlns:a16="http://schemas.microsoft.com/office/drawing/2014/main" id="{234280D7-459A-75B4-0C83-D1FE1EB6AF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145" y="571606"/>
            <a:ext cx="1520555" cy="220706"/>
          </a:xfrm>
          <a:prstGeom prst="rect">
            <a:avLst/>
          </a:prstGeom>
        </p:spPr>
      </p:pic>
      <p:pic>
        <p:nvPicPr>
          <p:cNvPr id="54" name="Picture 5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$&#10;\end{document}" title="IguanaTex Bitmap Display">
            <a:extLst>
              <a:ext uri="{FF2B5EF4-FFF2-40B4-BE49-F238E27FC236}">
                <a16:creationId xmlns:a16="http://schemas.microsoft.com/office/drawing/2014/main" id="{EA4B22F5-8B12-A697-4689-D4C4C299F4D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42" y="2676979"/>
            <a:ext cx="253629" cy="182905"/>
          </a:xfrm>
          <a:prstGeom prst="rect">
            <a:avLst/>
          </a:prstGeom>
        </p:spPr>
      </p:pic>
      <p:pic>
        <p:nvPicPr>
          <p:cNvPr id="74" name="Picture 7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In experiments&#10;\end{document}" title="IguanaTex Bitmap Display">
            <a:extLst>
              <a:ext uri="{FF2B5EF4-FFF2-40B4-BE49-F238E27FC236}">
                <a16:creationId xmlns:a16="http://schemas.microsoft.com/office/drawing/2014/main" id="{6263D833-90A9-BB39-5347-5E3FDF4D444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03" y="889147"/>
            <a:ext cx="1285216" cy="197538"/>
          </a:xfrm>
          <a:prstGeom prst="rect">
            <a:avLst/>
          </a:prstGeom>
        </p:spPr>
      </p:pic>
      <p:pic>
        <p:nvPicPr>
          <p:cNvPr id="29" name="Picture 2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{1}=1037.03-6.11\rmi$&#10;\end{document}">
            <a:extLst>
              <a:ext uri="{FF2B5EF4-FFF2-40B4-BE49-F238E27FC236}">
                <a16:creationId xmlns:a16="http://schemas.microsoft.com/office/drawing/2014/main" id="{AF10B56C-73A7-EBF9-B592-D20A0AEACAB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03" y="1152860"/>
            <a:ext cx="1905873" cy="182906"/>
          </a:xfrm>
          <a:prstGeom prst="rect">
            <a:avLst/>
          </a:prstGeom>
        </p:spPr>
      </p:pic>
      <p:pic>
        <p:nvPicPr>
          <p:cNvPr id="65" name="Picture 64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{0} \approx 1\rmi$&#10;\end{document}">
            <a:extLst>
              <a:ext uri="{FF2B5EF4-FFF2-40B4-BE49-F238E27FC236}">
                <a16:creationId xmlns:a16="http://schemas.microsoft.com/office/drawing/2014/main" id="{51B117AB-3B8F-1564-C211-44ED667C043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04" y="1635364"/>
            <a:ext cx="653582" cy="184126"/>
          </a:xfrm>
          <a:prstGeom prst="rect">
            <a:avLst/>
          </a:prstGeom>
        </p:spPr>
      </p:pic>
      <p:pic>
        <p:nvPicPr>
          <p:cNvPr id="90" name="Picture 89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 title="IguanaTex Bitmap Display">
            <a:extLst>
              <a:ext uri="{FF2B5EF4-FFF2-40B4-BE49-F238E27FC236}">
                <a16:creationId xmlns:a16="http://schemas.microsoft.com/office/drawing/2014/main" id="{8091A76F-7FCA-9D78-9C51-6BBF597A262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04" y="1893444"/>
            <a:ext cx="940135" cy="182905"/>
          </a:xfrm>
          <a:prstGeom prst="rect">
            <a:avLst/>
          </a:prstGeom>
        </p:spPr>
      </p:pic>
      <p:pic>
        <p:nvPicPr>
          <p:cNvPr id="47" name="Picture 46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result&#10;\end{document}">
            <a:extLst>
              <a:ext uri="{FF2B5EF4-FFF2-40B4-BE49-F238E27FC236}">
                <a16:creationId xmlns:a16="http://schemas.microsoft.com/office/drawing/2014/main" id="{3541B668-4D43-9929-5F20-46758914B5C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200" y="404846"/>
            <a:ext cx="1071826" cy="158518"/>
          </a:xfrm>
          <a:prstGeom prst="rect">
            <a:avLst/>
          </a:prstGeom>
        </p:spPr>
      </p:pic>
      <p:pic>
        <p:nvPicPr>
          <p:cNvPr id="124" name="Picture 12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\kappa_0$&#10;\end{document}" title="IguanaTex Bitmap Display">
            <a:extLst>
              <a:ext uri="{FF2B5EF4-FFF2-40B4-BE49-F238E27FC236}">
                <a16:creationId xmlns:a16="http://schemas.microsoft.com/office/drawing/2014/main" id="{2DB783C5-1B61-6B74-D2D5-F286B35FA853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766" y="57276"/>
            <a:ext cx="841365" cy="220706"/>
          </a:xfrm>
          <a:prstGeom prst="rect">
            <a:avLst/>
          </a:prstGeom>
        </p:spPr>
      </p:pic>
      <p:pic>
        <p:nvPicPr>
          <p:cNvPr id="127" name="Picture 126" descr="FloquetHop_250514C_Post_Qy2y1Tune1i">
            <a:extLst>
              <a:ext uri="{FF2B5EF4-FFF2-40B4-BE49-F238E27FC236}">
                <a16:creationId xmlns:a16="http://schemas.microsoft.com/office/drawing/2014/main" id="{687E1B62-B823-CF83-BF50-81AB85B7B4C4}"/>
              </a:ext>
            </a:extLst>
          </p:cNvPr>
          <p:cNvPicPr>
            <a:picLocks noChangeAspect="1"/>
          </p:cNvPicPr>
          <p:nvPr/>
        </p:nvPicPr>
        <p:blipFill>
          <a:blip r:embed="rId50" r:link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354" y="686391"/>
            <a:ext cx="2880000" cy="2699279"/>
          </a:xfrm>
          <a:prstGeom prst="rect">
            <a:avLst/>
          </a:prstGeom>
        </p:spPr>
      </p:pic>
      <p:pic>
        <p:nvPicPr>
          <p:cNvPr id="128" name="Picture 127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color=BrewerSetRed}Measured&#10;\end{document}">
            <a:extLst>
              <a:ext uri="{FF2B5EF4-FFF2-40B4-BE49-F238E27FC236}">
                <a16:creationId xmlns:a16="http://schemas.microsoft.com/office/drawing/2014/main" id="{66EC57C6-11DA-C98F-BD60-A73C864B8CC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465" y="2211997"/>
            <a:ext cx="1183246" cy="138703"/>
          </a:xfrm>
          <a:prstGeom prst="rect">
            <a:avLst/>
          </a:prstGeom>
        </p:spPr>
      </p:pic>
      <p:pic>
        <p:nvPicPr>
          <p:cNvPr id="129" name="Picture 12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dashed,color=BrewerSetBlue}Fit&#10;\end{document}">
            <a:extLst>
              <a:ext uri="{FF2B5EF4-FFF2-40B4-BE49-F238E27FC236}">
                <a16:creationId xmlns:a16="http://schemas.microsoft.com/office/drawing/2014/main" id="{0EC96EE3-7ADB-F442-9CFF-F5239B0A28B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465" y="2461626"/>
            <a:ext cx="664709" cy="137636"/>
          </a:xfrm>
          <a:prstGeom prst="rect">
            <a:avLst/>
          </a:prstGeom>
        </p:spPr>
      </p:pic>
      <p:pic>
        <p:nvPicPr>
          <p:cNvPr id="130" name="Picture 12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>
            <a:extLst>
              <a:ext uri="{FF2B5EF4-FFF2-40B4-BE49-F238E27FC236}">
                <a16:creationId xmlns:a16="http://schemas.microsoft.com/office/drawing/2014/main" id="{75F8B6E3-8677-70FB-ADC2-BFB7A4313F35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14943" y="1113763"/>
            <a:ext cx="813015" cy="174980"/>
          </a:xfrm>
          <a:prstGeom prst="rect">
            <a:avLst/>
          </a:prstGeom>
        </p:spPr>
      </p:pic>
      <p:pic>
        <p:nvPicPr>
          <p:cNvPr id="131" name="Picture 13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>
            <a:extLst>
              <a:ext uri="{FF2B5EF4-FFF2-40B4-BE49-F238E27FC236}">
                <a16:creationId xmlns:a16="http://schemas.microsoft.com/office/drawing/2014/main" id="{4BC800E1-9819-F8E6-BE72-2300670834D6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97659" y="2502703"/>
            <a:ext cx="735128" cy="193118"/>
          </a:xfrm>
          <a:prstGeom prst="rect">
            <a:avLst/>
          </a:prstGeom>
        </p:spPr>
      </p:pic>
      <p:pic>
        <p:nvPicPr>
          <p:cNvPr id="132" name="Picture 13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>
            <a:extLst>
              <a:ext uri="{FF2B5EF4-FFF2-40B4-BE49-F238E27FC236}">
                <a16:creationId xmlns:a16="http://schemas.microsoft.com/office/drawing/2014/main" id="{500B9CA2-60A1-B404-257C-59397565206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848" y="3447483"/>
            <a:ext cx="491863" cy="193118"/>
          </a:xfrm>
          <a:prstGeom prst="rect">
            <a:avLst/>
          </a:prstGeom>
        </p:spPr>
      </p:pic>
      <p:pic>
        <p:nvPicPr>
          <p:cNvPr id="51" name="Picture 5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0.12+ 0.99\rmi$&#10;\end{document}">
            <a:extLst>
              <a:ext uri="{FF2B5EF4-FFF2-40B4-BE49-F238E27FC236}">
                <a16:creationId xmlns:a16="http://schemas.microsoft.com/office/drawing/2014/main" id="{539BEDAA-3FE8-74E7-1C5A-C42957C5A5B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465" y="404553"/>
            <a:ext cx="1227904" cy="167053"/>
          </a:xfrm>
          <a:prstGeom prst="rect">
            <a:avLst/>
          </a:prstGeom>
        </p:spPr>
      </p:pic>
      <p:pic>
        <p:nvPicPr>
          <p:cNvPr id="139" name="Picture 138" descr="FloquetHop_250514C_Post_Qy2y1TuneM1i">
            <a:extLst>
              <a:ext uri="{FF2B5EF4-FFF2-40B4-BE49-F238E27FC236}">
                <a16:creationId xmlns:a16="http://schemas.microsoft.com/office/drawing/2014/main" id="{72B4CBA3-A488-0B1D-0676-A4BF6B6D614E}"/>
              </a:ext>
            </a:extLst>
          </p:cNvPr>
          <p:cNvPicPr>
            <a:picLocks noChangeAspect="1"/>
          </p:cNvPicPr>
          <p:nvPr/>
        </p:nvPicPr>
        <p:blipFill>
          <a:blip r:embed="rId58" r:link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092" y="686391"/>
            <a:ext cx="2880000" cy="2699279"/>
          </a:xfrm>
          <a:prstGeom prst="rect">
            <a:avLst/>
          </a:prstGeom>
        </p:spPr>
      </p:pic>
      <p:pic>
        <p:nvPicPr>
          <p:cNvPr id="56" name="Picture 55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0.2-1.1\rmi$&#10;\end{document}">
            <a:extLst>
              <a:ext uri="{FF2B5EF4-FFF2-40B4-BE49-F238E27FC236}">
                <a16:creationId xmlns:a16="http://schemas.microsoft.com/office/drawing/2014/main" id="{67E590D3-D207-EC8B-C664-EBBBB1A9E36D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092" y="394006"/>
            <a:ext cx="1014515" cy="154860"/>
          </a:xfrm>
          <a:prstGeom prst="rect">
            <a:avLst/>
          </a:prstGeom>
        </p:spPr>
      </p:pic>
      <p:pic>
        <p:nvPicPr>
          <p:cNvPr id="141" name="Picture 14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>
            <a:extLst>
              <a:ext uri="{FF2B5EF4-FFF2-40B4-BE49-F238E27FC236}">
                <a16:creationId xmlns:a16="http://schemas.microsoft.com/office/drawing/2014/main" id="{0EA89E63-C10E-D21A-5C23-877CAB41139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02477" y="1164143"/>
            <a:ext cx="813015" cy="174980"/>
          </a:xfrm>
          <a:prstGeom prst="rect">
            <a:avLst/>
          </a:prstGeom>
        </p:spPr>
      </p:pic>
      <p:pic>
        <p:nvPicPr>
          <p:cNvPr id="142" name="Picture 14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>
            <a:extLst>
              <a:ext uri="{FF2B5EF4-FFF2-40B4-BE49-F238E27FC236}">
                <a16:creationId xmlns:a16="http://schemas.microsoft.com/office/drawing/2014/main" id="{CFB9CBBF-E250-BB71-2D8B-83E15FB749FE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44778" y="2575278"/>
            <a:ext cx="735128" cy="193118"/>
          </a:xfrm>
          <a:prstGeom prst="rect">
            <a:avLst/>
          </a:prstGeom>
        </p:spPr>
      </p:pic>
      <p:pic>
        <p:nvPicPr>
          <p:cNvPr id="146" name="Picture 145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-\kappa_0$&#10;\end{document}" title="IguanaTex Bitmap Display">
            <a:extLst>
              <a:ext uri="{FF2B5EF4-FFF2-40B4-BE49-F238E27FC236}">
                <a16:creationId xmlns:a16="http://schemas.microsoft.com/office/drawing/2014/main" id="{607DCA50-7E85-52F5-9F58-92A407A93915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887" y="57276"/>
            <a:ext cx="1008419" cy="220706"/>
          </a:xfrm>
          <a:prstGeom prst="rect">
            <a:avLst/>
          </a:prstGeom>
        </p:spPr>
      </p:pic>
      <p:pic>
        <p:nvPicPr>
          <p:cNvPr id="149" name="Picture 14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>
            <a:extLst>
              <a:ext uri="{FF2B5EF4-FFF2-40B4-BE49-F238E27FC236}">
                <a16:creationId xmlns:a16="http://schemas.microsoft.com/office/drawing/2014/main" id="{A887FE99-C716-E3C6-63D1-BC7E41219495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162" y="3447483"/>
            <a:ext cx="491863" cy="193118"/>
          </a:xfrm>
          <a:prstGeom prst="rect">
            <a:avLst/>
          </a:prstGeom>
        </p:spPr>
      </p:pic>
      <p:pic>
        <p:nvPicPr>
          <p:cNvPr id="151" name="Picture 150" descr="FloquetHop_250514C_Post_Qy2y1FloquetSquare_Time">
            <a:extLst>
              <a:ext uri="{FF2B5EF4-FFF2-40B4-BE49-F238E27FC236}">
                <a16:creationId xmlns:a16="http://schemas.microsoft.com/office/drawing/2014/main" id="{9BF1832A-9B76-4D3C-A519-3A2C20011155}"/>
              </a:ext>
            </a:extLst>
          </p:cNvPr>
          <p:cNvPicPr>
            <a:picLocks noChangeAspect="1"/>
          </p:cNvPicPr>
          <p:nvPr/>
        </p:nvPicPr>
        <p:blipFill>
          <a:blip r:embed="rId62" r:link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26" y="4506519"/>
            <a:ext cx="4724009" cy="1755503"/>
          </a:xfrm>
          <a:prstGeom prst="rect">
            <a:avLst/>
          </a:prstGeom>
        </p:spPr>
      </p:pic>
      <p:pic>
        <p:nvPicPr>
          <p:cNvPr id="152" name="Picture 151" descr="FloquetHop_250514C_Post_Qy2y1FloquetSquare_Freq">
            <a:extLst>
              <a:ext uri="{FF2B5EF4-FFF2-40B4-BE49-F238E27FC236}">
                <a16:creationId xmlns:a16="http://schemas.microsoft.com/office/drawing/2014/main" id="{D9DAFD8C-B2A8-E0DB-455B-F7E2684FBD84}"/>
              </a:ext>
            </a:extLst>
          </p:cNvPr>
          <p:cNvPicPr>
            <a:picLocks noChangeAspect="1"/>
          </p:cNvPicPr>
          <p:nvPr/>
        </p:nvPicPr>
        <p:blipFill>
          <a:blip r:embed="rId64" r:link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948" y="4506519"/>
            <a:ext cx="4724009" cy="1755503"/>
          </a:xfrm>
          <a:prstGeom prst="rect">
            <a:avLst/>
          </a:prstGeom>
        </p:spPr>
      </p:pic>
      <p:pic>
        <p:nvPicPr>
          <p:cNvPr id="154" name="Picture 15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 [s]&#10;\end{document}">
            <a:extLst>
              <a:ext uri="{FF2B5EF4-FFF2-40B4-BE49-F238E27FC236}">
                <a16:creationId xmlns:a16="http://schemas.microsoft.com/office/drawing/2014/main" id="{D9A524CE-DEAE-0732-FE30-24BCF5CF15D6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791" y="6272084"/>
            <a:ext cx="334107" cy="220706"/>
          </a:xfrm>
          <a:prstGeom prst="rect">
            <a:avLst/>
          </a:prstGeom>
        </p:spPr>
      </p:pic>
      <p:pic>
        <p:nvPicPr>
          <p:cNvPr id="155" name="Picture 154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>
            <a:extLst>
              <a:ext uri="{FF2B5EF4-FFF2-40B4-BE49-F238E27FC236}">
                <a16:creationId xmlns:a16="http://schemas.microsoft.com/office/drawing/2014/main" id="{39892E41-675B-127D-BA60-D00C0D22644C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683" y="6324258"/>
            <a:ext cx="491863" cy="193118"/>
          </a:xfrm>
          <a:prstGeom prst="rect">
            <a:avLst/>
          </a:prstGeom>
        </p:spPr>
      </p:pic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7240509-7BA9-2E1C-E36B-AAD8C6FC22D3}"/>
              </a:ext>
            </a:extLst>
          </p:cNvPr>
          <p:cNvCxnSpPr>
            <a:cxnSpLocks/>
          </p:cNvCxnSpPr>
          <p:nvPr/>
        </p:nvCxnSpPr>
        <p:spPr>
          <a:xfrm flipV="1">
            <a:off x="2816667" y="4229343"/>
            <a:ext cx="0" cy="27021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E61D91B-39BE-97E1-5F70-811483E1C22E}"/>
              </a:ext>
            </a:extLst>
          </p:cNvPr>
          <p:cNvCxnSpPr>
            <a:cxnSpLocks/>
          </p:cNvCxnSpPr>
          <p:nvPr/>
        </p:nvCxnSpPr>
        <p:spPr>
          <a:xfrm flipV="1">
            <a:off x="3673641" y="4229343"/>
            <a:ext cx="0" cy="27021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58786F2-AA40-FD40-CF48-FE2DAE7EC8A5}"/>
              </a:ext>
            </a:extLst>
          </p:cNvPr>
          <p:cNvCxnSpPr>
            <a:cxnSpLocks/>
          </p:cNvCxnSpPr>
          <p:nvPr/>
        </p:nvCxnSpPr>
        <p:spPr>
          <a:xfrm flipH="1">
            <a:off x="2816667" y="4364449"/>
            <a:ext cx="85697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4" name="Picture 16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 title="IguanaTex Bitmap Display">
            <a:extLst>
              <a:ext uri="{FF2B5EF4-FFF2-40B4-BE49-F238E27FC236}">
                <a16:creationId xmlns:a16="http://schemas.microsoft.com/office/drawing/2014/main" id="{AA5C342F-8A9E-D61D-D775-98E61A3B93E7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086" y="4002785"/>
            <a:ext cx="940135" cy="182905"/>
          </a:xfrm>
          <a:prstGeom prst="rect">
            <a:avLst/>
          </a:prstGeom>
        </p:spPr>
      </p:pic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E91C639-4D57-CA04-30C4-E62533C6395F}"/>
              </a:ext>
            </a:extLst>
          </p:cNvPr>
          <p:cNvCxnSpPr>
            <a:cxnSpLocks/>
          </p:cNvCxnSpPr>
          <p:nvPr/>
        </p:nvCxnSpPr>
        <p:spPr>
          <a:xfrm flipV="1">
            <a:off x="8822158" y="5110648"/>
            <a:ext cx="0" cy="27021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6A73A992-57F5-9CAD-5332-AC4FBE1D7FF7}"/>
              </a:ext>
            </a:extLst>
          </p:cNvPr>
          <p:cNvCxnSpPr>
            <a:cxnSpLocks/>
          </p:cNvCxnSpPr>
          <p:nvPr/>
        </p:nvCxnSpPr>
        <p:spPr>
          <a:xfrm flipH="1">
            <a:off x="8297655" y="5253886"/>
            <a:ext cx="524503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" name="Picture 17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\mathrm{m} = 5\,\mathrm{Hz}$&#10;\end{document}" title="IguanaTex Bitmap Display">
            <a:extLst>
              <a:ext uri="{FF2B5EF4-FFF2-40B4-BE49-F238E27FC236}">
                <a16:creationId xmlns:a16="http://schemas.microsoft.com/office/drawing/2014/main" id="{87AF16D7-CE3E-12F7-7378-1FDF9C3F7D4C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728" y="4811812"/>
            <a:ext cx="953548" cy="184124"/>
          </a:xfrm>
          <a:prstGeom prst="rect">
            <a:avLst/>
          </a:prstGeom>
        </p:spPr>
      </p:pic>
      <p:pic>
        <p:nvPicPr>
          <p:cNvPr id="61" name="Picture 6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Single-frequency excitation $\omega=1035\,\mathrm{Hz}$&#10;\end{document}">
            <a:extLst>
              <a:ext uri="{FF2B5EF4-FFF2-40B4-BE49-F238E27FC236}">
                <a16:creationId xmlns:a16="http://schemas.microsoft.com/office/drawing/2014/main" id="{77969FFE-023B-D056-5A8F-ACB19E0405AF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288" y="4104790"/>
            <a:ext cx="3592264" cy="204854"/>
          </a:xfrm>
          <a:prstGeom prst="rect">
            <a:avLst/>
          </a:prstGeom>
        </p:spPr>
      </p:pic>
      <p:pic>
        <p:nvPicPr>
          <p:cNvPr id="193" name="Picture 19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time domain)&#10;\end{document}" title="IguanaTex Bitmap Display">
            <a:extLst>
              <a:ext uri="{FF2B5EF4-FFF2-40B4-BE49-F238E27FC236}">
                <a16:creationId xmlns:a16="http://schemas.microsoft.com/office/drawing/2014/main" id="{AE1F33C5-6FA1-8964-E3A7-CA5F3D00B5AA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120" y="6567961"/>
            <a:ext cx="2748461" cy="220706"/>
          </a:xfrm>
          <a:prstGeom prst="rect">
            <a:avLst/>
          </a:prstGeom>
        </p:spPr>
      </p:pic>
      <p:pic>
        <p:nvPicPr>
          <p:cNvPr id="181" name="Picture 180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frequency domain)&#10;\end{document}" title="IguanaTex Bitmap Display">
            <a:extLst>
              <a:ext uri="{FF2B5EF4-FFF2-40B4-BE49-F238E27FC236}">
                <a16:creationId xmlns:a16="http://schemas.microsoft.com/office/drawing/2014/main" id="{C739BBCF-3A59-8DE7-DD95-07B294BC50A4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421" y="6580018"/>
            <a:ext cx="3208163" cy="220706"/>
          </a:xfrm>
          <a:prstGeom prst="rect">
            <a:avLst/>
          </a:prstGeom>
        </p:spPr>
      </p:pic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D2F2754-1BDB-629B-6E86-CEF158122DA9}"/>
              </a:ext>
            </a:extLst>
          </p:cNvPr>
          <p:cNvCxnSpPr>
            <a:cxnSpLocks/>
          </p:cNvCxnSpPr>
          <p:nvPr/>
        </p:nvCxnSpPr>
        <p:spPr>
          <a:xfrm>
            <a:off x="0" y="3765232"/>
            <a:ext cx="12192000" cy="81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C93569C-C821-A707-CB77-55D7C4EB347B}"/>
              </a:ext>
            </a:extLst>
          </p:cNvPr>
          <p:cNvCxnSpPr>
            <a:cxnSpLocks/>
          </p:cNvCxnSpPr>
          <p:nvPr/>
        </p:nvCxnSpPr>
        <p:spPr>
          <a:xfrm>
            <a:off x="4801638" y="0"/>
            <a:ext cx="0" cy="37652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AB65833-85E1-6A18-99F1-E17BFBBC18D4}"/>
              </a:ext>
            </a:extLst>
          </p:cNvPr>
          <p:cNvCxnSpPr>
            <a:cxnSpLocks/>
          </p:cNvCxnSpPr>
          <p:nvPr/>
        </p:nvCxnSpPr>
        <p:spPr>
          <a:xfrm>
            <a:off x="8601682" y="0"/>
            <a:ext cx="25205" cy="37652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A00D494D-F787-EDA5-51CC-E69083F32413}"/>
              </a:ext>
            </a:extLst>
          </p:cNvPr>
          <p:cNvCxnSpPr>
            <a:cxnSpLocks/>
          </p:cNvCxnSpPr>
          <p:nvPr/>
        </p:nvCxnSpPr>
        <p:spPr>
          <a:xfrm>
            <a:off x="8101383" y="4283005"/>
            <a:ext cx="616231" cy="306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7C1680BF-507F-5EAB-8450-F70F8292DCA1}"/>
              </a:ext>
            </a:extLst>
          </p:cNvPr>
          <p:cNvSpPr/>
          <p:nvPr/>
        </p:nvSpPr>
        <p:spPr>
          <a:xfrm>
            <a:off x="1773143" y="1058801"/>
            <a:ext cx="229704" cy="2297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2 $&#10;\end{document}" title="IguanaTex Bitmap Display">
            <a:extLst>
              <a:ext uri="{FF2B5EF4-FFF2-40B4-BE49-F238E27FC236}">
                <a16:creationId xmlns:a16="http://schemas.microsoft.com/office/drawing/2014/main" id="{6FF7469C-F020-5474-128B-4CE27187F08B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956" y="1354391"/>
            <a:ext cx="208512" cy="13291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804638-4291-1D70-B889-677AEB98AC88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995142" y="1173653"/>
            <a:ext cx="77800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$&#10;\end{document}" title="IguanaTex Bitmap Display">
            <a:extLst>
              <a:ext uri="{FF2B5EF4-FFF2-40B4-BE49-F238E27FC236}">
                <a16:creationId xmlns:a16="http://schemas.microsoft.com/office/drawing/2014/main" id="{FC151194-17BB-22FE-8DC9-BD9FBB6963E7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045" y="911784"/>
            <a:ext cx="340204" cy="220706"/>
          </a:xfrm>
          <a:prstGeom prst="rect">
            <a:avLst/>
          </a:prstGeom>
        </p:spPr>
      </p:pic>
      <p:pic>
        <p:nvPicPr>
          <p:cNvPr id="33" name="Picture 3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{2}=1034.8-6.4\rmi$&#10;\end{document}" title="IguanaTex Bitmap Display">
            <a:extLst>
              <a:ext uri="{FF2B5EF4-FFF2-40B4-BE49-F238E27FC236}">
                <a16:creationId xmlns:a16="http://schemas.microsoft.com/office/drawing/2014/main" id="{2E380EFF-191C-24B0-0906-46EC66378CDA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2" y="1385420"/>
            <a:ext cx="1692484" cy="182906"/>
          </a:xfrm>
          <a:prstGeom prst="rect">
            <a:avLst/>
          </a:prstGeom>
        </p:spPr>
      </p:pic>
      <p:pic>
        <p:nvPicPr>
          <p:cNvPr id="57" name="Picture 56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result&#10;\end{document}">
            <a:extLst>
              <a:ext uri="{FF2B5EF4-FFF2-40B4-BE49-F238E27FC236}">
                <a16:creationId xmlns:a16="http://schemas.microsoft.com/office/drawing/2014/main" id="{008986CF-A261-E431-07D3-91157BC5227B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72" y="402478"/>
            <a:ext cx="1071826" cy="158518"/>
          </a:xfrm>
          <a:prstGeom prst="rect">
            <a:avLst/>
          </a:prstGeom>
        </p:spPr>
      </p:pic>
      <p:pic>
        <p:nvPicPr>
          <p:cNvPr id="59" name="Picture 5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loquet hoppings&#10;\end{document}">
            <a:extLst>
              <a:ext uri="{FF2B5EF4-FFF2-40B4-BE49-F238E27FC236}">
                <a16:creationId xmlns:a16="http://schemas.microsoft.com/office/drawing/2014/main" id="{AA957E32-C15D-7640-A067-51878F1AF3D7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2" y="533530"/>
            <a:ext cx="1897645" cy="249971"/>
          </a:xfrm>
          <a:prstGeom prst="rect">
            <a:avLst/>
          </a:prstGeom>
        </p:spPr>
      </p:pic>
      <p:pic>
        <p:nvPicPr>
          <p:cNvPr id="55" name="Picture 54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dynamic hoppings&#10;\end{document}">
            <a:extLst>
              <a:ext uri="{FF2B5EF4-FFF2-40B4-BE49-F238E27FC236}">
                <a16:creationId xmlns:a16="http://schemas.microsoft.com/office/drawing/2014/main" id="{F2B967C6-47BA-B869-1676-06C9385D07D8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12" y="124833"/>
            <a:ext cx="3414847" cy="2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20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E54BE-D5A5-4143-5892-C4191406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 descr="SketchThreeCavity_240717A2">
            <a:extLst>
              <a:ext uri="{FF2B5EF4-FFF2-40B4-BE49-F238E27FC236}">
                <a16:creationId xmlns:a16="http://schemas.microsoft.com/office/drawing/2014/main" id="{53BA5273-AA9A-0965-4C03-DC7A14C1437E}"/>
              </a:ext>
            </a:extLst>
          </p:cNvPr>
          <p:cNvPicPr>
            <a:picLocks noChangeAspect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62" y="2523913"/>
            <a:ext cx="6757733" cy="3790776"/>
          </a:xfrm>
          <a:prstGeom prst="rect">
            <a:avLst/>
          </a:prstGeom>
        </p:spPr>
      </p:pic>
      <p:pic>
        <p:nvPicPr>
          <p:cNvPr id="11" name="Picture 1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arbitrary acoustic lattices&#10;\end{document}">
            <a:extLst>
              <a:ext uri="{FF2B5EF4-FFF2-40B4-BE49-F238E27FC236}">
                <a16:creationId xmlns:a16="http://schemas.microsoft.com/office/drawing/2014/main" id="{5B16F278-F6FC-7E04-B5F7-FB0D2B9AA8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12" y="124833"/>
            <a:ext cx="4382417" cy="2999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97C755-9315-E149-9978-B83ACAFBDC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2035" y="3279710"/>
            <a:ext cx="3028526" cy="2573517"/>
          </a:xfrm>
          <a:prstGeom prst="rect">
            <a:avLst/>
          </a:prstGeom>
        </p:spPr>
      </p:pic>
      <p:pic>
        <p:nvPicPr>
          <p:cNvPr id="16" name="Picture 15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128-channel Controller&#10;&#10;\end{document}">
            <a:extLst>
              <a:ext uri="{FF2B5EF4-FFF2-40B4-BE49-F238E27FC236}">
                <a16:creationId xmlns:a16="http://schemas.microsoft.com/office/drawing/2014/main" id="{03C69C6A-44F1-6F6C-32D1-0A074C09BF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673" y="6056832"/>
            <a:ext cx="2501234" cy="204244"/>
          </a:xfrm>
          <a:prstGeom prst="rect">
            <a:avLst/>
          </a:prstGeom>
        </p:spPr>
      </p:pic>
      <p:pic>
        <p:nvPicPr>
          <p:cNvPr id="23" name="Picture 22" descr="IguanaTex Bitmap Display&#10;&#10;\documentclass{article}&#10;\pagestyle{empty}&#10;&#10;\usepackage{amsfonts}&#10;\usepackage{amsmath}&#10;\usepackage{braket}&#10;\usepackage{bm}&#10;\usepackage{mathtools}&#10;\usepackage{physics}&#10;\usepackage{mlmodern}&#10;\usepackage{upgreek}&#10;\usepackage{tikz}&#10;\usepackage{xcolor}&#10;&#10;\newcommand{\rmi}{\mathrm{i}}&#10;&#10;\renewcommand{\familydefault}{\sfdefault}&#10;&#10;\begin{document}&#10;&#10;$$&#10;H_\mathrm{tune}&#10;= &#10;\mqty[\kappa_{11} &amp; \kappa_{12} &amp; \kappa_{13}\\ &#10;\kappa_{21} &amp; \kappa_{22} &amp; \kappa_{23}\\&#10;\kappa_{31} &amp; \kappa_{32} &amp; \kappa_{33}]\in \mathbb{C}_{3\times 3}&#10;$$&#10;&#10;\end{document}">
            <a:extLst>
              <a:ext uri="{FF2B5EF4-FFF2-40B4-BE49-F238E27FC236}">
                <a16:creationId xmlns:a16="http://schemas.microsoft.com/office/drawing/2014/main" id="{8992CEB2-9C59-3A1E-F9D8-3B97A9F7873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848" y="1088793"/>
            <a:ext cx="3719080" cy="923673"/>
          </a:xfrm>
          <a:prstGeom prst="rect">
            <a:avLst/>
          </a:prstGeom>
        </p:spPr>
      </p:pic>
      <p:pic>
        <p:nvPicPr>
          <p:cNvPr id="18" name="Picture 17" descr="\documentclass{article}&#10;\pagestyle{empty}&#10;&#10;\usepackage{amsfonts}&#10;\usepackage{amsmath}&#10;\usepackage{braket}&#10;\usepackage{bm}&#10;\usepackage{mathtools}&#10;\usepackage{physics}&#10;\usepackage{mlmodern}&#10;\usepackage{upgreek}&#10;\usepackage{tikz}&#10;\usepackage{xcolor}&#10;&#10;&#10;\renewcommand{\familydefault}{\sfdefault}&#10;&#10;\begin{document}&#10;&#10;\[&#10;H = H_0 + H_\mathrm{tune}&#10;\]&#10;&#10;\end{document}" title="IguanaTex Bitmap Display">
            <a:extLst>
              <a:ext uri="{FF2B5EF4-FFF2-40B4-BE49-F238E27FC236}">
                <a16:creationId xmlns:a16="http://schemas.microsoft.com/office/drawing/2014/main" id="{68C9C3B5-EFF6-BC44-CE40-5CF11DC3437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982" y="645528"/>
            <a:ext cx="1797047" cy="222535"/>
          </a:xfrm>
          <a:prstGeom prst="rect">
            <a:avLst/>
          </a:prstGeom>
        </p:spPr>
      </p:pic>
      <p:pic>
        <p:nvPicPr>
          <p:cNvPr id="21" name="Picture 20" descr="IguanaTex Bitmap Display&#10;&#10;\documentclass{article}&#10;\pagestyle{empty}&#10;&#10;\usepackage{amsfonts}&#10;\usepackage{amsmath}&#10;\usepackage{braket}&#10;\usepackage{bm}&#10;\usepackage{mathtools}&#10;\usepackage{physics}&#10;\usepackage{mlmodern}&#10;\usepackage{upgreek}&#10;\usepackage{tikz}&#10;\usepackage{xcolor}&#10;&#10;\newcommand{\rmi}{\mathrm{i}}&#10;&#10;\renewcommand{\familydefault}{\sfdefault}&#10;&#10;\begin{document}&#10;&#10;\[&#10;H_0 = \mqty[\omega_1 &amp; 0 &amp;0 \\&#10;0 &amp; \omega_2 &amp; 0\\&#10;0 &amp; 0 &amp; \omega_3 ]&#10;\]&#10;&#10;\end{document}">
            <a:extLst>
              <a:ext uri="{FF2B5EF4-FFF2-40B4-BE49-F238E27FC236}">
                <a16:creationId xmlns:a16="http://schemas.microsoft.com/office/drawing/2014/main" id="{F26FFC35-9445-DA1D-B19D-3002BF99250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30" y="1088793"/>
            <a:ext cx="2234496" cy="923673"/>
          </a:xfrm>
          <a:prstGeom prst="rect">
            <a:avLst/>
          </a:prstGeom>
        </p:spPr>
      </p:pic>
      <p:pic>
        <p:nvPicPr>
          <p:cNvPr id="30" name="Picture 2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ability&#10;\begin{itemize}&#10;\item onsite potentials and hoppings&#10;\item real-valued and complex-valued&#10;\item reciprocal and nonreciprocal&#10;%\item linear and nonlinear&#10;\item static and time-varying&#10;\item regular and irregular lattice geometry&#10;\item OBC , PBC, twisted BC&#10;\item 1D, 2D, 3D, and (3+1)D&#10;\end{itemize}&#10;\end{document}">
            <a:extLst>
              <a:ext uri="{FF2B5EF4-FFF2-40B4-BE49-F238E27FC236}">
                <a16:creationId xmlns:a16="http://schemas.microsoft.com/office/drawing/2014/main" id="{81A5FEA9-A6DC-CAC2-0ECE-03A6534A496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096" y="226898"/>
            <a:ext cx="4767739" cy="26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3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15A06-80C7-CA98-7CBE-E5CA2670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7A871-D957-A723-7EF0-54DCE68324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029" y="3624632"/>
            <a:ext cx="5105302" cy="2731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DCEF2E-8BE3-E759-C11E-EC64DDE1F1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569" y="1953368"/>
            <a:ext cx="5818222" cy="1503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6D839F-45C1-08FC-DB37-06C972D0B5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0321" y="3478134"/>
            <a:ext cx="4320000" cy="2878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A740F9-C6D6-79B8-9BBD-02757A3D2E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0321" y="405954"/>
            <a:ext cx="4320000" cy="29739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765BE4-9E1B-273F-F206-65CF19BFC8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569" y="856399"/>
            <a:ext cx="5892772" cy="1017685"/>
          </a:xfrm>
          <a:prstGeom prst="rect">
            <a:avLst/>
          </a:prstGeom>
        </p:spPr>
      </p:pic>
      <p:pic>
        <p:nvPicPr>
          <p:cNvPr id="15" name="Picture 14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Examples of experimental realizations&#10;&#10;\end{document}">
            <a:extLst>
              <a:ext uri="{FF2B5EF4-FFF2-40B4-BE49-F238E27FC236}">
                <a16:creationId xmlns:a16="http://schemas.microsoft.com/office/drawing/2014/main" id="{DCB9E6EB-289D-1F01-15F0-1C641B6191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13" y="124833"/>
            <a:ext cx="4996979" cy="299965"/>
          </a:xfrm>
          <a:prstGeom prst="rect">
            <a:avLst/>
          </a:prstGeom>
        </p:spPr>
      </p:pic>
      <p:pic>
        <p:nvPicPr>
          <p:cNvPr id="17" name="Picture 16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PRB 2025&#10;\end{document}">
            <a:extLst>
              <a:ext uri="{FF2B5EF4-FFF2-40B4-BE49-F238E27FC236}">
                <a16:creationId xmlns:a16="http://schemas.microsoft.com/office/drawing/2014/main" id="{B111CABB-8476-4C09-DA46-E9BECB1F12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86" y="3724989"/>
            <a:ext cx="1535187" cy="199977"/>
          </a:xfrm>
          <a:prstGeom prst="rect">
            <a:avLst/>
          </a:prstGeom>
        </p:spPr>
      </p:pic>
      <p:pic>
        <p:nvPicPr>
          <p:cNvPr id="20" name="Picture 1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arXiv:2504.02824, 2025&#10;\end{document}">
            <a:extLst>
              <a:ext uri="{FF2B5EF4-FFF2-40B4-BE49-F238E27FC236}">
                <a16:creationId xmlns:a16="http://schemas.microsoft.com/office/drawing/2014/main" id="{BD9A8C5E-B1E3-9D92-88C9-552DBAADD14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99" y="3179890"/>
            <a:ext cx="2717976" cy="199977"/>
          </a:xfrm>
          <a:prstGeom prst="rect">
            <a:avLst/>
          </a:prstGeom>
        </p:spPr>
      </p:pic>
      <p:pic>
        <p:nvPicPr>
          <p:cNvPr id="21" name="Picture 2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arXiv:2504.02824, 2025&#10;\end{document}">
            <a:extLst>
              <a:ext uri="{FF2B5EF4-FFF2-40B4-BE49-F238E27FC236}">
                <a16:creationId xmlns:a16="http://schemas.microsoft.com/office/drawing/2014/main" id="{3EE2058E-0A0C-4191-D3E4-72D2A7409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410" y="136525"/>
            <a:ext cx="2717976" cy="199977"/>
          </a:xfrm>
          <a:prstGeom prst="rect">
            <a:avLst/>
          </a:prstGeom>
        </p:spPr>
      </p:pic>
      <p:pic>
        <p:nvPicPr>
          <p:cNvPr id="24" name="Picture 2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arXiv:2501.08160, 2025&#10;\end{document}">
            <a:extLst>
              <a:ext uri="{FF2B5EF4-FFF2-40B4-BE49-F238E27FC236}">
                <a16:creationId xmlns:a16="http://schemas.microsoft.com/office/drawing/2014/main" id="{79997006-A117-3241-FEE5-5C371FB9508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322" y="6436924"/>
            <a:ext cx="2717977" cy="19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5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23969-7E1E-AD5A-1A65-15B22ABF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072" y="6541577"/>
            <a:ext cx="2743200" cy="365125"/>
          </a:xfrm>
        </p:spPr>
        <p:txBody>
          <a:bodyPr/>
          <a:lstStyle/>
          <a:p>
            <a:fld id="{32395700-1EA4-4240-B477-EEAA4F45B3E6}" type="slidenum">
              <a:rPr lang="en-US" smtClean="0"/>
              <a:t>10</a:t>
            </a:fld>
            <a:endParaRPr lang="en-US"/>
          </a:p>
        </p:txBody>
      </p:sp>
      <p:pic>
        <p:nvPicPr>
          <p:cNvPr id="23" name="Picture 22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(Non-Hermitian) Hatano-Nelson model&#10;&#10;\end{document}">
            <a:extLst>
              <a:ext uri="{FF2B5EF4-FFF2-40B4-BE49-F238E27FC236}">
                <a16:creationId xmlns:a16="http://schemas.microsoft.com/office/drawing/2014/main" id="{59355EDA-6470-1393-D291-189E4CA84A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1" y="158620"/>
            <a:ext cx="5183543" cy="331059"/>
          </a:xfrm>
          <a:prstGeom prst="rect">
            <a:avLst/>
          </a:prstGeom>
        </p:spPr>
      </p:pic>
      <p:pic>
        <p:nvPicPr>
          <p:cNvPr id="9" name="Picture 8" descr="HatanoNelson_Demo_241002C_OBC_leftState">
            <a:extLst>
              <a:ext uri="{FF2B5EF4-FFF2-40B4-BE49-F238E27FC236}">
                <a16:creationId xmlns:a16="http://schemas.microsoft.com/office/drawing/2014/main" id="{C2973BB8-CDE0-D657-2E81-84A1CF8F9E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086" y="943330"/>
            <a:ext cx="3600000" cy="2784249"/>
          </a:xfrm>
          <a:prstGeom prst="rect">
            <a:avLst/>
          </a:prstGeom>
        </p:spPr>
      </p:pic>
      <p:pic>
        <p:nvPicPr>
          <p:cNvPr id="10" name="Picture 9" descr="HatanoNelson_Demo_241002C_OBC_rightState">
            <a:extLst>
              <a:ext uri="{FF2B5EF4-FFF2-40B4-BE49-F238E27FC236}">
                <a16:creationId xmlns:a16="http://schemas.microsoft.com/office/drawing/2014/main" id="{B1168B83-E26D-2CE0-268B-A8DD493872E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422" y="838744"/>
            <a:ext cx="3600000" cy="285425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8064388-9303-2858-A6F0-65B3CC20BA98}"/>
              </a:ext>
            </a:extLst>
          </p:cNvPr>
          <p:cNvGrpSpPr/>
          <p:nvPr/>
        </p:nvGrpSpPr>
        <p:grpSpPr>
          <a:xfrm>
            <a:off x="414541" y="2897165"/>
            <a:ext cx="3570555" cy="2835574"/>
            <a:chOff x="7446391" y="1148291"/>
            <a:chExt cx="3570555" cy="2835574"/>
          </a:xfrm>
        </p:grpSpPr>
        <p:pic>
          <p:nvPicPr>
            <p:cNvPr id="12" name="Picture 11" descr="HatanoNelson_Demo_241002C_EnergySpec_Right8_Left4">
              <a:extLst>
                <a:ext uri="{FF2B5EF4-FFF2-40B4-BE49-F238E27FC236}">
                  <a16:creationId xmlns:a16="http://schemas.microsoft.com/office/drawing/2014/main" id="{E4C14E02-069D-8DF2-D5B3-17FDE8532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391" y="1148291"/>
              <a:ext cx="3570555" cy="2835574"/>
            </a:xfrm>
            <a:prstGeom prst="rect">
              <a:avLst/>
            </a:prstGeom>
          </p:spPr>
        </p:pic>
        <p:pic>
          <p:nvPicPr>
            <p:cNvPr id="13" name="Picture 12" descr="IguanaTex Bitmap Display&#10;&#10;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&#10;&#10;\Circle{color=BrewerSetRed, fill}: OBC&#10;&#10;\Square{color=BrewerSetBlue, fill}: PBC&#10;&#10;&#10;\end{document}">
              <a:extLst>
                <a:ext uri="{FF2B5EF4-FFF2-40B4-BE49-F238E27FC236}">
                  <a16:creationId xmlns:a16="http://schemas.microsoft.com/office/drawing/2014/main" id="{E3F3E7D7-8808-1A19-EA18-C9EC38E1153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4361" y="3007289"/>
              <a:ext cx="780397" cy="397515"/>
            </a:xfrm>
            <a:prstGeom prst="rect">
              <a:avLst/>
            </a:prstGeom>
          </p:spPr>
        </p:pic>
      </p:grpSp>
      <p:pic>
        <p:nvPicPr>
          <p:cNvPr id="14" name="Picture 13" descr="HatanoNelson_Demo_241002C_PBC_leftState">
            <a:extLst>
              <a:ext uri="{FF2B5EF4-FFF2-40B4-BE49-F238E27FC236}">
                <a16:creationId xmlns:a16="http://schemas.microsoft.com/office/drawing/2014/main" id="{28BF1D32-645E-952F-54CD-01849DEA09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086" y="3797586"/>
            <a:ext cx="3600000" cy="2784249"/>
          </a:xfrm>
          <a:prstGeom prst="rect">
            <a:avLst/>
          </a:prstGeom>
        </p:spPr>
      </p:pic>
      <p:pic>
        <p:nvPicPr>
          <p:cNvPr id="15" name="Picture 14" descr="HatanoNelson_Demo_241002C_PBC_rightState">
            <a:extLst>
              <a:ext uri="{FF2B5EF4-FFF2-40B4-BE49-F238E27FC236}">
                <a16:creationId xmlns:a16="http://schemas.microsoft.com/office/drawing/2014/main" id="{9586A8C7-6C1E-19DA-6359-DF6208FE3EE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422" y="3762582"/>
            <a:ext cx="3600000" cy="2854256"/>
          </a:xfrm>
          <a:prstGeom prst="rect">
            <a:avLst/>
          </a:prstGeom>
        </p:spPr>
      </p:pic>
      <p:pic>
        <p:nvPicPr>
          <p:cNvPr id="16" name="Picture 15" descr="IguanaTex Bitmap Display&#10;&#10;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fontawesome5}&#10;&#10;\usepackage{enumitem}&#10;\setlist{nosep} % or \setlist{noitemsep} to leave space around whole list&#10;&#10;\newcommand{\rmi}{\mathrm{i}}&#10;\newcommand{\rme}{\mathrm{e}}&#10;&#10;\renewcommand{\familydefault}{\sfdefault}&#10;\usepackage{njuvisual}&#10;&#10;&#10;\begin{document}&#10;$L=12, \kappa_+ = 2\kappa_- \approx -8\,\mathrm{Hz}$&#10;&#10;\end{document}">
            <a:extLst>
              <a:ext uri="{FF2B5EF4-FFF2-40B4-BE49-F238E27FC236}">
                <a16:creationId xmlns:a16="http://schemas.microsoft.com/office/drawing/2014/main" id="{8A6B04E9-BCD0-8EBC-48BF-14E7A200E2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4" y="2097182"/>
            <a:ext cx="3104822" cy="251495"/>
          </a:xfrm>
          <a:prstGeom prst="rect">
            <a:avLst/>
          </a:prstGeom>
        </p:spPr>
      </p:pic>
      <p:pic>
        <p:nvPicPr>
          <p:cNvPr id="17" name="Picture 16" descr="IguanaTex Bitmap Display&#10;&#10;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OBC, $\bra{\bar \psi_n^\mathrm{L}}$&#10;&#10;\end{document}">
            <a:extLst>
              <a:ext uri="{FF2B5EF4-FFF2-40B4-BE49-F238E27FC236}">
                <a16:creationId xmlns:a16="http://schemas.microsoft.com/office/drawing/2014/main" id="{5365072E-9A73-B596-F974-23A04804F39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540" y="1311143"/>
            <a:ext cx="1187362" cy="320085"/>
          </a:xfrm>
          <a:prstGeom prst="rect">
            <a:avLst/>
          </a:prstGeom>
        </p:spPr>
      </p:pic>
      <p:pic>
        <p:nvPicPr>
          <p:cNvPr id="18" name="Picture 17" descr="IguanaTex Bitmap Display&#10;&#10;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PBC, $\bra{\bar \psi_n^\mathrm{L}}$&#10;&#10;\end{document}">
            <a:extLst>
              <a:ext uri="{FF2B5EF4-FFF2-40B4-BE49-F238E27FC236}">
                <a16:creationId xmlns:a16="http://schemas.microsoft.com/office/drawing/2014/main" id="{FEC3CF45-0116-9215-A4DE-563536E2ADA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540" y="4256125"/>
            <a:ext cx="1169071" cy="320085"/>
          </a:xfrm>
          <a:prstGeom prst="rect">
            <a:avLst/>
          </a:prstGeom>
        </p:spPr>
      </p:pic>
      <p:pic>
        <p:nvPicPr>
          <p:cNvPr id="19" name="Picture 18" descr="IguanaTex Bitmap Display&#10;&#10;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OBC, $\ket{\bar \psi_n^\mathrm{R}}$&#10;&#10;\end{document}">
            <a:extLst>
              <a:ext uri="{FF2B5EF4-FFF2-40B4-BE49-F238E27FC236}">
                <a16:creationId xmlns:a16="http://schemas.microsoft.com/office/drawing/2014/main" id="{CF0D6C2D-8C22-F6D2-51F8-E55BA163EEE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233" y="1290946"/>
            <a:ext cx="1223943" cy="320085"/>
          </a:xfrm>
          <a:prstGeom prst="rect">
            <a:avLst/>
          </a:prstGeom>
        </p:spPr>
      </p:pic>
      <p:pic>
        <p:nvPicPr>
          <p:cNvPr id="20" name="Picture 19" descr="IguanaTex Bitmap Display&#10;&#10;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PBC, $\ket{\bar \psi_n^\mathrm{R}}$&#10;&#10;\end{document}">
            <a:extLst>
              <a:ext uri="{FF2B5EF4-FFF2-40B4-BE49-F238E27FC236}">
                <a16:creationId xmlns:a16="http://schemas.microsoft.com/office/drawing/2014/main" id="{66405290-28C3-213F-7E02-39B22544D44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227" y="4256124"/>
            <a:ext cx="1205652" cy="320085"/>
          </a:xfrm>
          <a:prstGeom prst="rect">
            <a:avLst/>
          </a:prstGeom>
        </p:spPr>
      </p:pic>
      <p:pic>
        <p:nvPicPr>
          <p:cNvPr id="21" name="Picture 20" descr="IguanaTex Bitmap Display&#10;&#10;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Spectrum, $E_n$&#10;&#10;\end{document}">
            <a:extLst>
              <a:ext uri="{FF2B5EF4-FFF2-40B4-BE49-F238E27FC236}">
                <a16:creationId xmlns:a16="http://schemas.microsoft.com/office/drawing/2014/main" id="{ED327E30-8C76-0487-B056-8E5EAFF6C8E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2619122"/>
            <a:ext cx="1515067" cy="22863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5A21C75-12AF-A06A-F623-416C24D2752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02304" y="1063084"/>
            <a:ext cx="4072245" cy="848937"/>
          </a:xfrm>
          <a:prstGeom prst="rect">
            <a:avLst/>
          </a:prstGeom>
        </p:spPr>
      </p:pic>
      <p:pic>
        <p:nvPicPr>
          <p:cNvPr id="31" name="Picture 3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H\neq H^\dagger$&#10;\end{document}">
            <a:extLst>
              <a:ext uri="{FF2B5EF4-FFF2-40B4-BE49-F238E27FC236}">
                <a16:creationId xmlns:a16="http://schemas.microsoft.com/office/drawing/2014/main" id="{F44E1CCC-702D-5DB8-BB65-D0051E451C7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114" y="775008"/>
            <a:ext cx="920624" cy="288076"/>
          </a:xfrm>
          <a:prstGeom prst="rect">
            <a:avLst/>
          </a:prstGeom>
        </p:spPr>
      </p:pic>
      <p:pic>
        <p:nvPicPr>
          <p:cNvPr id="33" name="Picture 32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colorbox{red!20}{How to measure complex-valued spectra?}&#10;\end{document}">
            <a:extLst>
              <a:ext uri="{FF2B5EF4-FFF2-40B4-BE49-F238E27FC236}">
                <a16:creationId xmlns:a16="http://schemas.microsoft.com/office/drawing/2014/main" id="{E322A1CA-9631-31A4-848F-7361C741548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41" y="5965410"/>
            <a:ext cx="3823945" cy="315817"/>
          </a:xfrm>
          <a:prstGeom prst="rect">
            <a:avLst/>
          </a:prstGeom>
        </p:spPr>
      </p:pic>
      <p:pic>
        <p:nvPicPr>
          <p:cNvPr id="40" name="Picture 3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colorbox{red!20}{How to measure left and right eigenstates?}&#10;\end{document}">
            <a:extLst>
              <a:ext uri="{FF2B5EF4-FFF2-40B4-BE49-F238E27FC236}">
                <a16:creationId xmlns:a16="http://schemas.microsoft.com/office/drawing/2014/main" id="{07AA1693-03E0-A352-91BD-922EF5A883E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126" y="434600"/>
            <a:ext cx="3962955" cy="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13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B29B2-6306-3B9B-916A-CE51624E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2674" y="6552509"/>
            <a:ext cx="2743200" cy="365125"/>
          </a:xfrm>
        </p:spPr>
        <p:txBody>
          <a:bodyPr/>
          <a:lstStyle/>
          <a:p>
            <a:fld id="{32395700-1EA4-4240-B477-EEAA4F45B3E6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fontawesome5}&#10;&#10;\usepackage{enumitem}&#10;\setlist{nosep} % or \setlist{noitemsep} to leave space around whole list&#10;&#10;\newcommand{\rmi}{\mathrm{i}}&#10;\newcommand{\rme}{\mathrm{e}}&#10;&#10;\renewcommand{\familydefault}{\sfdefault}&#10;\usepackage{njuvisual}&#10;&#10;&#10;\begin{document}&#10;\[&#10;G(\omega)&#10;= \mqty[&#10;G_{11}(\omega) &amp; G_{12}(\omega) &amp; \cdots &amp; G_{1L}(\omega)\\ &#10;G_{21}(\omega) &amp; G_{22}(\omega) &amp; \cdots &amp; G_{2L}(\omega)\\ &#10;\vdots &amp; \vdots &amp;\ddots  &amp; \vdots \\&#10;G_{L1}(\omega) &amp; G_{L2}(\omega) &amp; \cdots &amp; G_{LL}(\omega)&#10;]&#10;\]&#10;&#10;\end{document}" title="IguanaTex Bitmap Display">
            <a:extLst>
              <a:ext uri="{FF2B5EF4-FFF2-40B4-BE49-F238E27FC236}">
                <a16:creationId xmlns:a16="http://schemas.microsoft.com/office/drawing/2014/main" id="{B1DDEBCE-2974-95DF-2F6A-6512C22FD7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31" y="937599"/>
            <a:ext cx="4399335" cy="1514458"/>
          </a:xfrm>
          <a:prstGeom prst="rect">
            <a:avLst/>
          </a:prstGeom>
        </p:spPr>
      </p:pic>
      <p:pic>
        <p:nvPicPr>
          <p:cNvPr id="8" name="Picture 7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Green's function-based approach&#10;&#10;\end{document}">
            <a:extLst>
              <a:ext uri="{FF2B5EF4-FFF2-40B4-BE49-F238E27FC236}">
                <a16:creationId xmlns:a16="http://schemas.microsoft.com/office/drawing/2014/main" id="{305D62EE-42DD-6C0A-68EB-BC9F00E072A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1" y="158620"/>
            <a:ext cx="4312912" cy="299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4B776-E54B-C55C-48EA-66586B6EBF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8165" y="1098193"/>
            <a:ext cx="5605628" cy="55772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33037F-C87C-B9B5-9128-1E0140285B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209" y="2672063"/>
            <a:ext cx="5380809" cy="3704180"/>
          </a:xfrm>
          <a:prstGeom prst="rect">
            <a:avLst/>
          </a:prstGeom>
        </p:spPr>
      </p:pic>
      <p:pic>
        <p:nvPicPr>
          <p:cNvPr id="18" name="Picture 17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\begin{dcases}&#10;G(\omega) \ket{\psi_n^\mathrm{R}}    &#10;=  &#10;\frac{1}{\omega-E_n} &#10; \ket{\psi_n^\mathrm{R}}    &#10; \\&#10; \bra{\psi_n^\mathrm{L}}  G(\omega)&#10;=  &#10;\frac{1}{\omega-E_n} &#10; \bra{\psi_n^\mathrm{L}}&#10;\end{dcases}&#10;\]&#10;\end{document}">
            <a:extLst>
              <a:ext uri="{FF2B5EF4-FFF2-40B4-BE49-F238E27FC236}">
                <a16:creationId xmlns:a16="http://schemas.microsoft.com/office/drawing/2014/main" id="{289BC92C-ADCA-30C9-42D0-36121CC2C36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867" y="42979"/>
            <a:ext cx="3142926" cy="1263572"/>
          </a:xfrm>
          <a:prstGeom prst="rect">
            <a:avLst/>
          </a:prstGeom>
        </p:spPr>
      </p:pic>
      <p:pic>
        <p:nvPicPr>
          <p:cNvPr id="16" name="Picture 15" descr="IguanaTex Bitmap Display&#10;&#10;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fontawesome5}&#10;&#10;\usepackage{enumitem}&#10;\setlist{nosep} % or \setlist{noitemsep} to leave space around whole list&#10;&#10;\newcommand{\rmi}{\mathrm{i}}&#10;\newcommand{\rme}{\mathrm{e}}&#10;&#10;\renewcommand{\familydefault}{\sfdefault}&#10;\usepackage{njuvisual}&#10;&#10;&#10;\begin{document}&#10;\[&#10;\begin{dcases}&#10;    H\ket{\psi_n^\mathrm{R}} = E_n \ket{\psi_n^{\mathrm{R}}}\\&#10;    \bra{\psi_n^{\mathrm{L}}} &#10;    H&#10;    =&#10;    \bra{\psi_n^{\mathrm{L}}} &#10;    E_n&#10;\end{dcases}&#10;\]&#10;&#10;\end{document}">
            <a:extLst>
              <a:ext uri="{FF2B5EF4-FFF2-40B4-BE49-F238E27FC236}">
                <a16:creationId xmlns:a16="http://schemas.microsoft.com/office/drawing/2014/main" id="{5D3B199E-2D1D-B960-D622-1062BD54262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836" y="259607"/>
            <a:ext cx="2231448" cy="9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1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983D1-E4DD-345E-54C4-6728DE2D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1DD00-4643-55CF-4AB6-BE2A68988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70" y="920349"/>
            <a:ext cx="10999260" cy="5829188"/>
          </a:xfrm>
          <a:prstGeom prst="rect">
            <a:avLst/>
          </a:prstGeom>
        </p:spPr>
      </p:pic>
      <p:pic>
        <p:nvPicPr>
          <p:cNvPr id="11" name="Picture 10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Observation of nonreciprocal non-Hermitian lattices&#10;&#10;\end{document}">
            <a:extLst>
              <a:ext uri="{FF2B5EF4-FFF2-40B4-BE49-F238E27FC236}">
                <a16:creationId xmlns:a16="http://schemas.microsoft.com/office/drawing/2014/main" id="{5F56B437-8DB3-60CA-9E19-A1C949F0557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3" y="158620"/>
            <a:ext cx="6897367" cy="303623"/>
          </a:xfrm>
          <a:prstGeom prst="rect">
            <a:avLst/>
          </a:prstGeom>
        </p:spPr>
      </p:pic>
      <p:pic>
        <p:nvPicPr>
          <p:cNvPr id="7" name="Picture 6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H_\mathrm{NR}(\vb{k}) = \omega_0+\kappa_+ \mathrm{e}^{-\mathrm{i}k_x} + \kappa_+ \mathrm{e}^{-\mathrm{i}k_y} + \kappa_- \mathrm{e}^{\mathrm{i}k_x} + \kappa_- \mathrm{e}^{\mathrm{i}k_y} + 4\kappa' \cos k_x \cos k_y&#10;\]&#10;\end{document}" title="IguanaTex Bitmap Display">
            <a:extLst>
              <a:ext uri="{FF2B5EF4-FFF2-40B4-BE49-F238E27FC236}">
                <a16:creationId xmlns:a16="http://schemas.microsoft.com/office/drawing/2014/main" id="{DB256244-C97A-A55E-0E07-C06E6F00F56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974" y="615344"/>
            <a:ext cx="6528507" cy="25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1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6EFC6-BE51-03A7-4AE9-27123B1C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03374-CCE3-5C1E-6B83-8B444878B6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000" y="1984570"/>
            <a:ext cx="11520000" cy="2111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F63C8A-FD52-3D5A-4724-F44FD17318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2" y="462243"/>
            <a:ext cx="1936831" cy="1663944"/>
          </a:xfrm>
          <a:prstGeom prst="rect">
            <a:avLst/>
          </a:prstGeom>
        </p:spPr>
      </p:pic>
      <p:pic>
        <p:nvPicPr>
          <p:cNvPr id="12" name="Picture 1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Observation of reciprocal non-Hermitian lattices&#10;&#10;\end{document}">
            <a:extLst>
              <a:ext uri="{FF2B5EF4-FFF2-40B4-BE49-F238E27FC236}">
                <a16:creationId xmlns:a16="http://schemas.microsoft.com/office/drawing/2014/main" id="{5FEE7107-3FF7-B992-1B7E-A90396E5DDE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4" y="158620"/>
            <a:ext cx="6405351" cy="3036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E3EDFF-FA98-2882-97D4-1794F4F222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032" y="4227978"/>
            <a:ext cx="11520000" cy="2128372"/>
          </a:xfrm>
          <a:prstGeom prst="rect">
            <a:avLst/>
          </a:prstGeom>
        </p:spPr>
      </p:pic>
      <p:pic>
        <p:nvPicPr>
          <p:cNvPr id="16" name="Picture 15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Geometry-dependent spectra and eigenstates&#10;\end{document}">
            <a:extLst>
              <a:ext uri="{FF2B5EF4-FFF2-40B4-BE49-F238E27FC236}">
                <a16:creationId xmlns:a16="http://schemas.microsoft.com/office/drawing/2014/main" id="{0D6F6AF2-8DCE-85F5-EEC3-4497CA64D97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175" y="1294215"/>
            <a:ext cx="4981127" cy="253019"/>
          </a:xfrm>
          <a:prstGeom prst="rect">
            <a:avLst/>
          </a:prstGeom>
        </p:spPr>
      </p:pic>
      <p:pic>
        <p:nvPicPr>
          <p:cNvPr id="6" name="Picture 5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 H_\mathrm{R}(\vb{k}) =\omega_0+ 2 \kappa_x \cos k_x+ 2 \kappa_y \cos(k_x+k_y)&#10;\]&#10;\end{document}" title="IguanaTex Bitmap Display">
            <a:extLst>
              <a:ext uri="{FF2B5EF4-FFF2-40B4-BE49-F238E27FC236}">
                <a16:creationId xmlns:a16="http://schemas.microsoft.com/office/drawing/2014/main" id="{1A2DC44B-EC6F-8CB6-9B64-0E807A58798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171" y="788500"/>
            <a:ext cx="5013136" cy="285028"/>
          </a:xfrm>
          <a:prstGeom prst="rect">
            <a:avLst/>
          </a:prstGeom>
        </p:spPr>
      </p:pic>
      <p:pic>
        <p:nvPicPr>
          <p:cNvPr id="15" name="Picture 14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&#10;\omega_0/(2\uppi) = 1040\,\mathrm{Hz} - 6\mathrm{i}\,\mathrm{Hz}$&#10;&#10;\end{document}" title="IguanaTex Bitmap Display">
            <a:extLst>
              <a:ext uri="{FF2B5EF4-FFF2-40B4-BE49-F238E27FC236}">
                <a16:creationId xmlns:a16="http://schemas.microsoft.com/office/drawing/2014/main" id="{DE7A1282-FA57-BA23-07F2-C54E5A492D9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865" y="622229"/>
            <a:ext cx="2447276" cy="220706"/>
          </a:xfrm>
          <a:prstGeom prst="rect">
            <a:avLst/>
          </a:prstGeom>
        </p:spPr>
      </p:pic>
      <p:pic>
        <p:nvPicPr>
          <p:cNvPr id="19" name="Picture 18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x/(2\uppi)=2.25\mathrm{i}\,\mathrm{Hz}$&#10;&#10;\end{document}" title="IguanaTex Bitmap Display">
            <a:extLst>
              <a:ext uri="{FF2B5EF4-FFF2-40B4-BE49-F238E27FC236}">
                <a16:creationId xmlns:a16="http://schemas.microsoft.com/office/drawing/2014/main" id="{EFD14EC5-7AAC-CAA2-EA76-25CCD748588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865" y="1006826"/>
            <a:ext cx="1733944" cy="220706"/>
          </a:xfrm>
          <a:prstGeom prst="rect">
            <a:avLst/>
          </a:prstGeom>
        </p:spPr>
      </p:pic>
      <p:pic>
        <p:nvPicPr>
          <p:cNvPr id="21" name="Picture 20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 $\kappa_y/(2\uppi)=4.5\,\mathrm{Hz}$&#10;&#10;\end{document}" title="IguanaTex Bitmap Display">
            <a:extLst>
              <a:ext uri="{FF2B5EF4-FFF2-40B4-BE49-F238E27FC236}">
                <a16:creationId xmlns:a16="http://schemas.microsoft.com/office/drawing/2014/main" id="{B234A236-1ADE-ABC9-EC70-29C0498BE5F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865" y="1391423"/>
            <a:ext cx="1564452" cy="22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72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F7581-5943-B582-7DC6-95905FB0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723" y="6538912"/>
            <a:ext cx="2743200" cy="365125"/>
          </a:xfrm>
        </p:spPr>
        <p:txBody>
          <a:bodyPr/>
          <a:lstStyle/>
          <a:p>
            <a:fld id="{32395700-1EA4-4240-B477-EEAA4F45B3E6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09CD7-5872-AA49-9B2F-C0FCBFECC54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4762"/>
          <a:stretch/>
        </p:blipFill>
        <p:spPr>
          <a:xfrm>
            <a:off x="6093507" y="2090058"/>
            <a:ext cx="6057207" cy="3951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7C01F-E95A-41A8-0631-FA1B79B55D6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5365"/>
          <a:stretch/>
        </p:blipFill>
        <p:spPr>
          <a:xfrm>
            <a:off x="90119" y="2518650"/>
            <a:ext cx="6054714" cy="3191685"/>
          </a:xfrm>
          <a:prstGeom prst="rect">
            <a:avLst/>
          </a:prstGeom>
        </p:spPr>
      </p:pic>
      <p:pic>
        <p:nvPicPr>
          <p:cNvPr id="10" name="Picture 9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Observation of reciprocal non-Hermitian lattices&#10;&#10;\end{document}">
            <a:extLst>
              <a:ext uri="{FF2B5EF4-FFF2-40B4-BE49-F238E27FC236}">
                <a16:creationId xmlns:a16="http://schemas.microsoft.com/office/drawing/2014/main" id="{8EBFA823-E5CE-0D34-6FC6-5816C8837DB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4" y="158620"/>
            <a:ext cx="6405351" cy="3036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45CC7B-7701-F85C-2988-B07E38DC39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233" y="858077"/>
            <a:ext cx="5892772" cy="1017685"/>
          </a:xfrm>
          <a:prstGeom prst="rect">
            <a:avLst/>
          </a:prstGeom>
        </p:spPr>
      </p:pic>
      <p:pic>
        <p:nvPicPr>
          <p:cNvPr id="2" name="Picture 1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&#10;\omega_0/(2\uppi) = 1040\,\mathrm{Hz} - 6\mathrm{i}\,\mathrm{Hz}$&#10;&#10;\end{document}" title="IguanaTex Bitmap Display">
            <a:extLst>
              <a:ext uri="{FF2B5EF4-FFF2-40B4-BE49-F238E27FC236}">
                <a16:creationId xmlns:a16="http://schemas.microsoft.com/office/drawing/2014/main" id="{1D327BC6-8180-D8DB-2A22-7899FFB8EED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850" y="960492"/>
            <a:ext cx="2447276" cy="220706"/>
          </a:xfrm>
          <a:prstGeom prst="rect">
            <a:avLst/>
          </a:prstGeom>
        </p:spPr>
      </p:pic>
      <p:pic>
        <p:nvPicPr>
          <p:cNvPr id="3" name="Picture 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x/(2\uppi)=2.25\mathrm{i}\,\mathrm{Hz}$&#10;&#10;\end{document}" title="IguanaTex Bitmap Display">
            <a:extLst>
              <a:ext uri="{FF2B5EF4-FFF2-40B4-BE49-F238E27FC236}">
                <a16:creationId xmlns:a16="http://schemas.microsoft.com/office/drawing/2014/main" id="{DF7D653F-DD0A-15A3-FB1F-568EEA82107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850" y="1263143"/>
            <a:ext cx="1733944" cy="220706"/>
          </a:xfrm>
          <a:prstGeom prst="rect">
            <a:avLst/>
          </a:prstGeom>
        </p:spPr>
      </p:pic>
      <p:pic>
        <p:nvPicPr>
          <p:cNvPr id="5" name="Picture 4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 $\kappa_y/(2\uppi)=4.5\,\mathrm{Hz}$&#10;&#10;\end{document}" title="IguanaTex Bitmap Display">
            <a:extLst>
              <a:ext uri="{FF2B5EF4-FFF2-40B4-BE49-F238E27FC236}">
                <a16:creationId xmlns:a16="http://schemas.microsoft.com/office/drawing/2014/main" id="{C3EF6DBA-7438-E5D4-47AA-8EB89BA42CD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850" y="1558931"/>
            <a:ext cx="1564452" cy="228022"/>
          </a:xfrm>
          <a:prstGeom prst="rect">
            <a:avLst/>
          </a:prstGeom>
        </p:spPr>
      </p:pic>
      <p:pic>
        <p:nvPicPr>
          <p:cNvPr id="7" name="Picture 6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 H_\mathrm{R}(\vb{k}) =\omega_0+ 2 \kappa_x \cos k_x+ 2 \kappa_y \cos(k_x+k_y)&#10;\]&#10;\end{document}" title="IguanaTex Bitmap Display">
            <a:extLst>
              <a:ext uri="{FF2B5EF4-FFF2-40B4-BE49-F238E27FC236}">
                <a16:creationId xmlns:a16="http://schemas.microsoft.com/office/drawing/2014/main" id="{64A18B54-D40E-CBFD-9E12-0ECA1808C4C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264" y="586931"/>
            <a:ext cx="5013136" cy="28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38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C7D0-9DBE-DE7C-3EC3-89197ECE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15</a:t>
            </a:fld>
            <a:endParaRPr lang="en-US"/>
          </a:p>
        </p:txBody>
      </p:sp>
      <p:pic>
        <p:nvPicPr>
          <p:cNvPr id="36" name="Picture 35" descr="IguanaTex Bitmap Display&#10;&#10;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Observation of non-Hermitian Chern insulators&#10;\end{document}">
            <a:extLst>
              <a:ext uri="{FF2B5EF4-FFF2-40B4-BE49-F238E27FC236}">
                <a16:creationId xmlns:a16="http://schemas.microsoft.com/office/drawing/2014/main" id="{7F3308B8-82F2-4AE2-4375-FC405DFF4B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67" y="177847"/>
            <a:ext cx="6229766" cy="2487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45B3D7-6BA4-05D0-9D27-7304FB2CEF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605" y="2214212"/>
            <a:ext cx="6217054" cy="4142137"/>
          </a:xfrm>
          <a:prstGeom prst="rect">
            <a:avLst/>
          </a:prstGeom>
        </p:spPr>
      </p:pic>
      <p:pic>
        <p:nvPicPr>
          <p:cNvPr id="22" name="Picture 21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 H_\mathrm{NH}(\vb{k}) = H_\mathrm{H}(\vb{k}) + \mathrm{i} \bm\upsigma \vdot \vb{h}&#10;    = \bm\upsigma \cdot \left[\vb{d}(\vb{k}) + \mathrm{i} \vb{h}\right]&#10;\]&#10;\end{document}" title="IguanaTex Bitmap Display">
            <a:extLst>
              <a:ext uri="{FF2B5EF4-FFF2-40B4-BE49-F238E27FC236}">
                <a16:creationId xmlns:a16="http://schemas.microsoft.com/office/drawing/2014/main" id="{E42B9498-A62A-94FA-1629-23F4241FA3B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79" y="1066813"/>
            <a:ext cx="3954416" cy="220706"/>
          </a:xfrm>
          <a:prstGeom prst="rect">
            <a:avLst/>
          </a:prstGeom>
        </p:spPr>
      </p:pic>
      <p:pic>
        <p:nvPicPr>
          <p:cNvPr id="8" name="Picture 7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Hermitian Chern&#10;\end{document}" title="IguanaTex Bitmap Display">
            <a:extLst>
              <a:ext uri="{FF2B5EF4-FFF2-40B4-BE49-F238E27FC236}">
                <a16:creationId xmlns:a16="http://schemas.microsoft.com/office/drawing/2014/main" id="{F2A6F768-2D7F-E404-0404-5318E4A33E2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19" y="702280"/>
            <a:ext cx="1446173" cy="160957"/>
          </a:xfrm>
          <a:prstGeom prst="rect">
            <a:avLst/>
          </a:prstGeom>
        </p:spPr>
      </p:pic>
      <p:pic>
        <p:nvPicPr>
          <p:cNvPr id="13" name="Picture 1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Non-Hermitian perturbation&#10;\end{document}" title="IguanaTex Bitmap Display">
            <a:extLst>
              <a:ext uri="{FF2B5EF4-FFF2-40B4-BE49-F238E27FC236}">
                <a16:creationId xmlns:a16="http://schemas.microsoft.com/office/drawing/2014/main" id="{EE154BD6-02C5-5B76-2098-AB486DFB4C8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320" y="1489584"/>
            <a:ext cx="2461909" cy="19753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51BA60-1BD5-1A75-631B-99510D98F005}"/>
              </a:ext>
            </a:extLst>
          </p:cNvPr>
          <p:cNvCxnSpPr>
            <a:cxnSpLocks/>
          </p:cNvCxnSpPr>
          <p:nvPr/>
        </p:nvCxnSpPr>
        <p:spPr>
          <a:xfrm>
            <a:off x="2635857" y="863237"/>
            <a:ext cx="0" cy="202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5F87E3-C047-A2FC-02A6-420FDB7352D5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3403158" y="1287519"/>
            <a:ext cx="134117" cy="202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C8903F28-F740-2340-1AF5-EFA8DF61DE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3761" y="641268"/>
            <a:ext cx="2880000" cy="27809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9622D8-D471-3532-C484-E1770AFE59E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3761" y="3422211"/>
            <a:ext cx="2880000" cy="2805774"/>
          </a:xfrm>
          <a:prstGeom prst="rect">
            <a:avLst/>
          </a:prstGeom>
        </p:spPr>
      </p:pic>
      <p:pic>
        <p:nvPicPr>
          <p:cNvPr id="32" name="Picture 31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\vb{d}(\vb{k}) = \left( t_0 \sin k_x , t_0\sin k_y , t_0[ \cos k_x + \cos k_y] - m_0 \right)&#10;\]&#10;\end{document}">
            <a:extLst>
              <a:ext uri="{FF2B5EF4-FFF2-40B4-BE49-F238E27FC236}">
                <a16:creationId xmlns:a16="http://schemas.microsoft.com/office/drawing/2014/main" id="{21CCB9A8-009E-7556-3B91-2D9C0723D9F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79" y="1804285"/>
            <a:ext cx="4629948" cy="228022"/>
          </a:xfrm>
          <a:prstGeom prst="rect">
            <a:avLst/>
          </a:prstGeom>
        </p:spPr>
      </p:pic>
      <p:pic>
        <p:nvPicPr>
          <p:cNvPr id="34" name="Picture 33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vb{h}=(h_x,h_y,h_z)\in \mathbb{R}^3$&#10;\end{document}">
            <a:extLst>
              <a:ext uri="{FF2B5EF4-FFF2-40B4-BE49-F238E27FC236}">
                <a16:creationId xmlns:a16="http://schemas.microsoft.com/office/drawing/2014/main" id="{DD1ECF8B-4A10-57D1-5161-033B579D269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636" y="1468854"/>
            <a:ext cx="1924166" cy="23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0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2E0C5-F4AC-E646-09E7-0CB73111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B2C593-1E61-2C8F-BD21-47A3E1162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2" y="1426882"/>
            <a:ext cx="11406568" cy="4658958"/>
          </a:xfrm>
          <a:prstGeom prst="rect">
            <a:avLst/>
          </a:prstGeom>
        </p:spPr>
      </p:pic>
      <p:pic>
        <p:nvPicPr>
          <p:cNvPr id="7" name="Picture 6" descr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Hermitian acoustic Chern insulator&#10;\end{document}" title="IguanaTex Bitmap Display">
            <a:extLst>
              <a:ext uri="{FF2B5EF4-FFF2-40B4-BE49-F238E27FC236}">
                <a16:creationId xmlns:a16="http://schemas.microsoft.com/office/drawing/2014/main" id="{EBDCF029-47B9-0DB5-3923-0250E853B5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2" y="258780"/>
            <a:ext cx="4618367" cy="241435"/>
          </a:xfrm>
          <a:prstGeom prst="rect">
            <a:avLst/>
          </a:prstGeom>
        </p:spPr>
      </p:pic>
      <p:pic>
        <p:nvPicPr>
          <p:cNvPr id="9" name="Picture 8" descr="IguanaTex Bitmap Display&#10;&#10;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h_x=h_y=h_z=0$&#10;\end{document}">
            <a:extLst>
              <a:ext uri="{FF2B5EF4-FFF2-40B4-BE49-F238E27FC236}">
                <a16:creationId xmlns:a16="http://schemas.microsoft.com/office/drawing/2014/main" id="{59ECF1B3-BAAE-A7CE-DB99-7293B7C7632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91" y="828655"/>
            <a:ext cx="2010437" cy="269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F5DCD1-A814-7147-2D85-818B9074CA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990" y="48573"/>
            <a:ext cx="2483989" cy="1163783"/>
          </a:xfrm>
          <a:prstGeom prst="rect">
            <a:avLst/>
          </a:prstGeom>
        </p:spPr>
      </p:pic>
      <p:pic>
        <p:nvPicPr>
          <p:cNvPr id="8" name="Picture 7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Gamma$ phase, $C=1$&#10;\end{document}" title="IguanaTex Bitmap Display">
            <a:extLst>
              <a:ext uri="{FF2B5EF4-FFF2-40B4-BE49-F238E27FC236}">
                <a16:creationId xmlns:a16="http://schemas.microsoft.com/office/drawing/2014/main" id="{35988871-F666-57B6-70D2-CFEDD2CD43C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774" y="6175380"/>
            <a:ext cx="1720836" cy="249971"/>
          </a:xfrm>
          <a:prstGeom prst="rect">
            <a:avLst/>
          </a:prstGeom>
        </p:spPr>
      </p:pic>
      <p:pic>
        <p:nvPicPr>
          <p:cNvPr id="13" name="Picture 12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 phase, $C=-1$&#10;\end{document}" title="IguanaTex Bitmap Display">
            <a:extLst>
              <a:ext uri="{FF2B5EF4-FFF2-40B4-BE49-F238E27FC236}">
                <a16:creationId xmlns:a16="http://schemas.microsoft.com/office/drawing/2014/main" id="{DB9A99A8-8A3B-3C0F-EA5F-9701B51C9EB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637" y="6175380"/>
            <a:ext cx="1976904" cy="2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36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2E0C5-F4AC-E646-09E7-0CB73111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446347"/>
            <a:ext cx="2743200" cy="365125"/>
          </a:xfrm>
        </p:spPr>
        <p:txBody>
          <a:bodyPr/>
          <a:lstStyle/>
          <a:p>
            <a:fld id="{32395700-1EA4-4240-B477-EEAA4F45B3E6}" type="slidenum">
              <a:rPr lang="en-US" smtClean="0"/>
              <a:t>17</a:t>
            </a:fld>
            <a:endParaRPr lang="en-US"/>
          </a:p>
        </p:txBody>
      </p:sp>
      <p:pic>
        <p:nvPicPr>
          <p:cNvPr id="10" name="Picture 9" descr="IguanaTex Bitmap Display&#10;&#10;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Non-Hermitian acoustic Chern insulator&#10;\end{document}">
            <a:extLst>
              <a:ext uri="{FF2B5EF4-FFF2-40B4-BE49-F238E27FC236}">
                <a16:creationId xmlns:a16="http://schemas.microsoft.com/office/drawing/2014/main" id="{59BB1DA4-B285-97DA-B097-E4DBD44E15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2" y="258780"/>
            <a:ext cx="5276828" cy="241435"/>
          </a:xfrm>
          <a:prstGeom prst="rect">
            <a:avLst/>
          </a:prstGeom>
        </p:spPr>
      </p:pic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9937702-748B-9D38-6314-0198DF3FFC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92475"/>
            <a:ext cx="10866120" cy="5840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8B826F-25BA-9FC5-4917-06C2EB070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452" y="-29989"/>
            <a:ext cx="1466707" cy="687173"/>
          </a:xfrm>
          <a:prstGeom prst="rect">
            <a:avLst/>
          </a:prstGeom>
        </p:spPr>
      </p:pic>
      <p:pic>
        <p:nvPicPr>
          <p:cNvPr id="2" name="Picture 1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Gamma$ phase, $C=1$&#10;\end{document}" title="IguanaTex Bitmap Display">
            <a:extLst>
              <a:ext uri="{FF2B5EF4-FFF2-40B4-BE49-F238E27FC236}">
                <a16:creationId xmlns:a16="http://schemas.microsoft.com/office/drawing/2014/main" id="{F1BABB46-53CA-1B62-38D3-4C30B43ECCB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914" y="288724"/>
            <a:ext cx="1720836" cy="2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7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4967C-54D6-8DF0-C353-C888DC51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DC292-0507-E290-90AE-939B84B27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007" y="740203"/>
            <a:ext cx="8705683" cy="5798709"/>
          </a:xfrm>
          <a:prstGeom prst="rect">
            <a:avLst/>
          </a:prstGeom>
        </p:spPr>
      </p:pic>
      <p:pic>
        <p:nvPicPr>
          <p:cNvPr id="7" name="Picture 6" descr="IguanaTex Bitmap Display&#10;&#10;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Non-Hermitian acoustic Chern insulator&#10;\end{document}">
            <a:extLst>
              <a:ext uri="{FF2B5EF4-FFF2-40B4-BE49-F238E27FC236}">
                <a16:creationId xmlns:a16="http://schemas.microsoft.com/office/drawing/2014/main" id="{2D89BBBE-9840-BB8C-4ADA-6CD389CE0E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2" y="258780"/>
            <a:ext cx="5276828" cy="241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672C58-18B9-D4EA-3F85-D7B9C4CC0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2" y="4842588"/>
            <a:ext cx="2648124" cy="1455809"/>
          </a:xfrm>
          <a:prstGeom prst="rect">
            <a:avLst/>
          </a:prstGeom>
        </p:spPr>
      </p:pic>
      <p:pic>
        <p:nvPicPr>
          <p:cNvPr id="2" name="Picture 1" descr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Gamma$ phase, $C=1$&#10;\end{document}" title="IguanaTex Bitmap Display">
            <a:extLst>
              <a:ext uri="{FF2B5EF4-FFF2-40B4-BE49-F238E27FC236}">
                <a16:creationId xmlns:a16="http://schemas.microsoft.com/office/drawing/2014/main" id="{B9BBB888-2FB8-B3CD-4166-6EB2F51F9E8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914" y="288724"/>
            <a:ext cx="1720836" cy="2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4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F8C0152-229B-D455-6F99-5C97E07B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95700-1EA4-4240-B477-EEAA4F45B3E6}" type="slidenum">
              <a:rPr lang="en-US" smtClean="0"/>
              <a:t>19</a:t>
            </a:fld>
            <a:endParaRPr lang="en-US"/>
          </a:p>
        </p:txBody>
      </p:sp>
      <p:pic>
        <p:nvPicPr>
          <p:cNvPr id="16" name="Picture 15" descr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Conclusions&#10;\end{document}" title="IguanaTex Bitmap Display">
            <a:extLst>
              <a:ext uri="{FF2B5EF4-FFF2-40B4-BE49-F238E27FC236}">
                <a16:creationId xmlns:a16="http://schemas.microsoft.com/office/drawing/2014/main" id="{04CEAAE0-30DD-8165-F1AA-20189EFD386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91" y="505669"/>
            <a:ext cx="1545552" cy="241435"/>
          </a:xfrm>
          <a:prstGeom prst="rect">
            <a:avLst/>
          </a:prstGeom>
        </p:spPr>
      </p:pic>
      <p:pic>
        <p:nvPicPr>
          <p:cNvPr id="18" name="Picture 17" descr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Thank you!&#10;\end{document}" title="IguanaTex Bitmap Display">
            <a:extLst>
              <a:ext uri="{FF2B5EF4-FFF2-40B4-BE49-F238E27FC236}">
                <a16:creationId xmlns:a16="http://schemas.microsoft.com/office/drawing/2014/main" id="{10268618-971D-875D-F58E-184031BB9DB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57" y="6052366"/>
            <a:ext cx="1494338" cy="2999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ADD793-CF59-1293-EA4C-1DD69A5522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4025" y="2659481"/>
            <a:ext cx="4739640" cy="3157804"/>
          </a:xfrm>
          <a:prstGeom prst="rect">
            <a:avLst/>
          </a:prstGeom>
        </p:spPr>
      </p:pic>
      <p:pic>
        <p:nvPicPr>
          <p:cNvPr id="6" name="Picture 5" descr="SketchThreeCavity_240717A2">
            <a:extLst>
              <a:ext uri="{FF2B5EF4-FFF2-40B4-BE49-F238E27FC236}">
                <a16:creationId xmlns:a16="http://schemas.microsoft.com/office/drawing/2014/main" id="{3BCEDCC4-AC2B-53D5-BA52-6AF842C4CD77}"/>
              </a:ext>
            </a:extLst>
          </p:cNvPr>
          <p:cNvPicPr>
            <a:picLocks noChangeAspect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35" y="2879515"/>
            <a:ext cx="5144254" cy="2885689"/>
          </a:xfrm>
          <a:prstGeom prst="rect">
            <a:avLst/>
          </a:prstGeom>
        </p:spPr>
      </p:pic>
      <p:pic>
        <p:nvPicPr>
          <p:cNvPr id="7" name="Picture 6" descr="\documentclass{article}&#10;\pagestyle{empty}&#10;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begin{itemize}&#10;\item Tunable and reconfigurable active acoustic lattices&#10;\item Experimentally probing eigenenergies and eigenstates of non-Hermitian systems&#10;\item Observation of dislocation bound states and skin effects in non-Hermitian Chern insulator&#10;\end{itemize}&#10;\end{document}" title="IguanaTex Bitmap Display">
            <a:extLst>
              <a:ext uri="{FF2B5EF4-FFF2-40B4-BE49-F238E27FC236}">
                <a16:creationId xmlns:a16="http://schemas.microsoft.com/office/drawing/2014/main" id="{9A200547-43EE-B2C4-37F2-B12EF27D030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58" y="980734"/>
            <a:ext cx="10268619" cy="8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745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0143"/>
  <p:tag name="ORIGINALWIDTH" val="394.5551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Outline&#10;\end{document}"/>
  <p:tag name="IGUANATEXSIZE" val="24"/>
  <p:tag name="IGUANATEXCURSOR" val="3098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8.3098"/>
  <p:tag name="ORIGINALWIDTH" val="5053.455"/>
  <p:tag name="OUTPUTTYPE" val="PNG"/>
  <p:tag name="IGUANATEXVERSION" val="160"/>
  <p:tag name="LATEXADDIN" val="\documentclass{article}&#10;\pagestyle{empty}&#10;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begin{itemize}&#10;\item Tunable and reconfigurable active acoustic lattices&#10;\item Experimentally probing eigenenergies and eigenstates of non-Hermitian systems&#10;\item Observation of dislocation bound states and skin effects in non-Hermitian Chern insulator&#10;\end{itemize}&#10;\end{document}"/>
  <p:tag name="IGUANATEXSIZE" val="20"/>
  <p:tag name="IGUANATEXCURSOR" val="4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2161.05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Coupled acoustic cavity system (CACS)&#10;\end{document}"/>
  <p:tag name="IGUANATEXSIZE" val="24"/>
  <p:tag name="IGUANATEXCURSOR" val="472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2308.07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ang et al., Nat. Commun. 12, 1 (2021)&#10;\end{document}"/>
  <p:tag name="IGUANATEXSIZE" val="16"/>
  <p:tag name="IGUANATEXCURSOR" val="469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8.0528"/>
  <p:tag name="ORIGINALWIDTH" val="804.862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H = \mqty[\omega_1 &amp; \kappa_0 \\ \kappa_0 &amp; \omega_2]&#10;\]&#10;\end{document}"/>
  <p:tag name="IGUANATEXSIZE" val="16"/>
  <p:tag name="IGUANATEXCURSOR" val="4743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8.0528"/>
  <p:tag name="ORIGINALWIDTH" val="1091.40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H = \mqty[\omega_1 &amp; \kappa_0 \\ \kappa_0+\kappa_\mathrm{a} &amp; \omega_2]&#10;\]&#10;\end{document}"/>
  <p:tag name="IGUANATEXSIZE" val="16"/>
  <p:tag name="IGUANATEXCURSOR" val="474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080.90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Reciprocal hoppings&#10;\end{document}"/>
  <p:tag name="IGUANATEXSIZE" val="20"/>
  <p:tag name="IGUANATEXCURSOR" val="470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267.67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Nonreciprocal hoppings&#10;\end{document}"/>
  <p:tag name="IGUANATEXSIZE" val="20"/>
  <p:tag name="IGUANATEXCURSOR" val="469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5169"/>
  <p:tag name="ORIGINALWIDTH" val="545.326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Reciprocal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5169"/>
  <p:tag name="ORIGINALWIDTH" val="731.352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Nonreciprocal&#10;\end{document}"/>
  <p:tag name="IGUANATEXSIZE" val="16"/>
  <p:tag name="IGUANATEXCURSOR" val="469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527.96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Response (Green's function)&#10;\end{document}"/>
  <p:tag name="IGUANATEXSIZE" val="20"/>
  <p:tag name="IGUANATEXCURSOR" val="471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6141"/>
  <p:tag name="ORIGINALWIDTH" val="126.017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1$&#10;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389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6141"/>
  <p:tag name="ORIGINALWIDTH" val="128.267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2$&#10;&#10;\end{document}"/>
  <p:tag name="IGUANATEXSIZE" val="16"/>
  <p:tag name="IGUANATEXCURSOR" val="4696"/>
  <p:tag name="TRANSPARENCY" val="True"/>
  <p:tag name="LATEXENGINEID" val="1"/>
  <p:tag name="TEMPFOLDER" val="C:\Users\MrJia\Downloads\"/>
  <p:tag name="LATEXFORMHEIGHT" val="389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01173"/>
  <p:tag name="ORIGINALWIDTH" val="117.766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{0}$&#10;&#10;\end{document}"/>
  <p:tag name="IGUANATEXSIZE" val="16"/>
  <p:tag name="IGUANATEXCURSOR" val="4698"/>
  <p:tag name="TRANSPARENCY" val="True"/>
  <p:tag name="LATEXENGINEID" val="1"/>
  <p:tag name="TEMPFOLDER" val="C:\Users\MrJia\Downloads\"/>
  <p:tag name="LATEXFORMHEIGHT" val="389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260.17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onsite potential&#10;\end{document}"/>
  <p:tag name="IGUANATEXSIZE" val="24"/>
  <p:tag name="IGUANATEXCURSOR" val="471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1.7907"/>
  <p:tag name="ORIGINALWIDTH" val="863.370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G(\omega) = \frac{1}{\omega-\omega_0}&#10;\]&#10;\end{document}"/>
  <p:tag name="IGUANATEXSIZE" val="20"/>
  <p:tag name="IGUANATEXCURSOR" val="472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01378"/>
  <p:tag name="ORIGINALWIDTH" val="879.122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Green's function&#10;\end{document}"/>
  <p:tag name="IGUANATEXSIZE" val="20"/>
  <p:tag name="IGUANATEXCURSOR" val="4703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681.73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Designed frequency: 1036.6\,Hz&#10;&#10;\end{document}"/>
  <p:tag name="IGUANATEXSIZE" val="20"/>
  <p:tag name="IGUANATEXCURSOR" val="4716"/>
  <p:tag name="TRANSPARENCY" val="True"/>
  <p:tag name="LATEXENGINEID" val="1"/>
  <p:tag name="TEMPFOLDER" val="C:\Users\MrJia\Downloads\"/>
  <p:tag name="LATEXFORMHEIGHT" val="384.9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0176"/>
  <p:tag name="ORIGINALWIDTH" val="3016.92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Small height perturbation $\Delta l = 0.5\,\mathrm{mm}$ $\Longrightarrow$ 1033.2\,Hz&#10;&#10;\end{document}"/>
  <p:tag name="IGUANATEXSIZE" val="20"/>
  <p:tag name="IGUANATEXCURSOR" val="4722"/>
  <p:tag name="TRANSPARENCY" val="True"/>
  <p:tag name="LATEXENGINEID" val="1"/>
  <p:tag name="TEMPFOLDER" val="C:\Users\MrJia\Downloads\"/>
  <p:tag name="LATEXFORMHEIGHT" val="367.5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01173"/>
  <p:tag name="ORIGINALWIDTH" val="129.768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0$&#10;&#10;\end{document}"/>
  <p:tag name="IGUANATEXSIZE" val="16"/>
  <p:tag name="IGUANATEXCURSOR" val="4696"/>
  <p:tag name="TRANSPARENCY" val="True"/>
  <p:tag name="LATEXENGINEID" val="1"/>
  <p:tag name="TEMPFOLDER" val="C:\Users\MrJia\Downloads\"/>
  <p:tag name="LATEXFORMHEIGHT" val="389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5.5161"/>
  <p:tag name="ORIGINALWIDTH" val="420.808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H=\omega_0&#10;\]&#10;\end{document}"/>
  <p:tag name="IGUANATEXSIZE" val="20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.0163"/>
  <p:tag name="ORIGINALWIDTH" val="390.054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0 \in \mathbb{C}$&#10;\end{document}"/>
  <p:tag name="IGUANATEXSIZE" val="20"/>
  <p:tag name="IGUANATEXCURSOR" val="471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903.876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hoppings&#10;\end{document}"/>
  <p:tag name="IGUANATEXSIZE" val="24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6141"/>
  <p:tag name="ORIGINALWIDTH" val="128.267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2 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01173"/>
  <p:tag name="ORIGINALWIDTH" val="117.766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0 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27.517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psi_1$&#10;\end{document}"/>
  <p:tag name="IGUANATEXSIZE" val="16"/>
  <p:tag name="IGUANATEXCURSOR" val="4695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29.768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psi_2$&#10;\end{document}"/>
  <p:tag name="IGUANATEXSIZE" val="16"/>
  <p:tag name="IGUANATEXCURSOR" val="469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8.0528"/>
  <p:tag name="ORIGINALWIDTH" val="804.8623"/>
  <p:tag name="OUTPUTTYPE" val="PNG"/>
  <p:tag name="IGUANATEXVERSION" val="160"/>
  <p:tag name="LATEXADDIN" val="\documentclass{article}&#10;\pagestyle{empty}&#10;% \setlength{\textwidth}{40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&#10;\begin{document}&#10;\[    H = \mqty[\omega_1 &amp; 0 \\ \kappa_0 &amp; \omega_2 ]&#10;\]&#10;&#10;\end{document}"/>
  <p:tag name="IGUANATEXSIZE" val="16"/>
  <p:tag name="IGUANATEXCURSOR" val="4535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5396"/>
  <p:tag name="ORIGINALWIDTH" val="1577.47"/>
  <p:tag name="OUTPUTTYPE" val="PNG"/>
  <p:tag name="IGUANATEXVERSION" val="160"/>
  <p:tag name="LATEXADDIN" val="\documentclass{article}&#10;\pagestyle{empty}&#10;% \setlength{\textwidth}{40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&#10;\begin{document}&#10;&#10;\[&#10;    \mathrm{i} \dv{\ket{\psi(t)}}{t}&#10;    = H \ket{\psi(t)} + \ket{s(t)}&#10;\]&#10;\end{document}"/>
  <p:tag name="IGUANATEXSIZE" val="16"/>
  <p:tag name="IGUANATEXCURSOR" val="4570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5.0439"/>
  <p:tag name="ORIGINALWIDTH" val="921.878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\frac{\psi_2(\omega)}{\psi_1(\omega)} &#10;= &#10;\frac{\kappa_0}{\omega-\omega_2}&#10;\]&#10;\end{document}"/>
  <p:tag name="IGUANATEXSIZE" val="16"/>
  <p:tag name="IGUANATEXCURSOR" val="474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8.0528"/>
  <p:tag name="ORIGINALWIDTH" val="1731.992"/>
  <p:tag name="OUTPUTTYPE" val="PNG"/>
  <p:tag name="IGUANATEXVERSION" val="160"/>
  <p:tag name="LATEXADDIN" val="\documentclass{article}&#10;\pagestyle{empty}&#10;% \setlength{\textwidth}{40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&#10;\begin{document}&#10;&#10;\[&#10;\ket{s(t)} = \ket{s} \rme^{-\rmi \omega t } = \psi_\mathrm{in} \mqty[1\\ 0] \rme^{-\rmi \omega t }&#10;\]&#10;\end{document}"/>
  <p:tag name="IGUANATEXSIZE" val="16"/>
  <p:tag name="IGUANATEXCURSOR" val="4562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513.071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0 + \kappa(t)$&#10;\end{document}"/>
  <p:tag name="IGUANATEXSIZE" val="16"/>
  <p:tag name="IGUANATEXCURSOR" val="4705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01173"/>
  <p:tag name="ORIGINALWIDTH" val="117.766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0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01173"/>
  <p:tag name="ORIGINALWIDTH" val="216.030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\kappa_0$&#10;\end{document}"/>
  <p:tag name="IGUANATEXSIZE" val="16"/>
  <p:tag name="IGUANATEXCURSOR" val="468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51236"/>
  <p:tag name="ORIGINALWIDTH" val="45.006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&#10;\end{document}"/>
  <p:tag name="IGUANATEXSIZE" val="16"/>
  <p:tag name="IGUANATEXCURSOR" val="469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935.380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+T_\mathrm{m}) = \kappa(t)$&#10;\end{document}"/>
  <p:tag name="IGUANATEXSIZE" val="16"/>
  <p:tag name="IGUANATEXCURSOR" val="472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156.021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$&#10;\end{document}"/>
  <p:tag name="IGUANATEXSIZE" val="16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5169"/>
  <p:tag name="ORIGINALWIDTH" val="790.610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In experiments&#10;\end{document}"/>
  <p:tag name="IGUANATEXSIZE" val="16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0159"/>
  <p:tag name="ORIGINALWIDTH" val="1172.41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{0}=1037.03-6.11\rmi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0159"/>
  <p:tag name="ORIGINALWIDTH" val="1065.89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{0} = -0.03 + 2.97\rmi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578.330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/>
  <p:tag name="IGUANATEXSIZE" val="16"/>
  <p:tag name="IGUANATEXCURSOR" val="471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927.879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onsite freq&#10;\end{document}"/>
  <p:tag name="IGUANATEXSIZE" val="16"/>
  <p:tag name="IGUANATEXCURSOR" val="4705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517.572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\kappa_0$&#10;\end{document}"/>
  <p:tag name="IGUANATEXSIZE" val="16"/>
  <p:tag name="IGUANATEXCURSOR" val="470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.51362"/>
  <p:tag name="ORIGINALWIDTH" val="831.866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color=BrewerSetRed}Measured&#10;\end{document}"/>
  <p:tag name="IGUANATEXSIZE" val="14"/>
  <p:tag name="IGUANATEXCURSOR" val="4725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6347"/>
  <p:tag name="ORIGINALWIDTH" val="467.315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dashed,color=BrewerSetBlue}Fit&#10;\end{document}"/>
  <p:tag name="IGUANATEXSIZE" val="14"/>
  <p:tag name="IGUANATEXCURSOR" val="472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571.579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/>
  <p:tag name="IGUANATEXSIZE" val="14"/>
  <p:tag name="IGUANATEXCURSOR" val="469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516.822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/>
  <p:tag name="IGUANATEXSIZE" val="14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345.7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/>
  <p:tag name="IGUANATEXSIZE" val="14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01339"/>
  <p:tag name="ORIGINALWIDTH" val="849.868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1037.36-3.22\rmi$&#10;\end{document}"/>
  <p:tag name="IGUANATEXSIZE" val="16"/>
  <p:tag name="IGUANATEXCURSOR" val="468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6347"/>
  <p:tag name="ORIGINALWIDTH" val="849.868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1036.93-9.24\rmi$&#10;\end{document}"/>
  <p:tag name="IGUANATEXSIZE" val="16"/>
  <p:tag name="IGUANATEXCURSOR" val="468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571.579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/>
  <p:tag name="IGUANATEXSIZE" val="14"/>
  <p:tag name="IGUANATEXCURSOR" val="469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516.822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/>
  <p:tag name="IGUANATEXSIZE" val="14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927.879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onsite freq&#10;\end{document}"/>
  <p:tag name="IGUANATEXSIZE" val="16"/>
  <p:tag name="IGUANATEXCURSOR" val="4705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620.336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-\kappa_0$&#10;\end{document}"/>
  <p:tag name="IGUANATEXSIZE" val="16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345.7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/>
  <p:tag name="IGUANATEXSIZE" val="14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205.528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 [s]&#10;\end{document}"/>
  <p:tag name="IGUANATEXSIZE" val="16"/>
  <p:tag name="IGUANATEXCURSOR" val="469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345.7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/>
  <p:tag name="IGUANATEXSIZE" val="14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578.330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/>
  <p:tag name="IGUANATEXSIZE" val="16"/>
  <p:tag name="IGUANATEXCURSOR" val="471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658"/>
  <p:tag name="ORIGINALWIDTH" val="586.581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\mathrm{m} = 5\,\mathrm{Hz}$&#10;\end{document}"/>
  <p:tag name="IGUANATEXSIZE" val="16"/>
  <p:tag name="IGUANATEXCURSOR" val="472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0176"/>
  <p:tag name="ORIGINALWIDTH" val="2209.80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Single-frequency excitation $\omega=1040\,\mathrm{Hz}$&#10;\end{document}"/>
  <p:tag name="IGUANATEXSIZE" val="16"/>
  <p:tag name="IGUANATEXCURSOR" val="474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690.73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time domain)&#10;\end{document}"/>
  <p:tag name="IGUANATEXSIZE" val="16"/>
  <p:tag name="IGUANATEXCURSOR" val="470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973.52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frequency domain)&#10;\end{document}"/>
  <p:tag name="IGUANATEXSIZE" val="16"/>
  <p:tag name="IGUANATEXCURSOR" val="471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5169"/>
  <p:tag name="ORIGINALWIDTH" val="769.607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loquet onsite&#10;\end{document}"/>
  <p:tag name="IGUANATEXSIZE" val="20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815.25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dynamic onsite potentials&#10;\end{document}"/>
  <p:tag name="IGUANATEXSIZE" val="24"/>
  <p:tag name="IGUANATEXCURSOR" val="471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6141"/>
  <p:tag name="ORIGINALWIDTH" val="126.017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1$&#10;\end{document}"/>
  <p:tag name="IGUANATEXSIZE" val="16"/>
  <p:tag name="IGUANATEXCURSOR" val="469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01173"/>
  <p:tag name="ORIGINALWIDTH" val="117.766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0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01173"/>
  <p:tag name="ORIGINALWIDTH" val="216.030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\kappa_0$&#10;\end{document}"/>
  <p:tag name="IGUANATEXSIZE" val="16"/>
  <p:tag name="IGUANATEXCURSOR" val="468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51236"/>
  <p:tag name="ORIGINALWIDTH" val="45.006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&#10;\end{document}"/>
  <p:tag name="IGUANATEXSIZE" val="16"/>
  <p:tag name="IGUANATEXCURSOR" val="469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935.380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+T_\mathrm{m}) = \kappa(t)$&#10;\end{document}"/>
  <p:tag name="IGUANATEXSIZE" val="16"/>
  <p:tag name="IGUANATEXCURSOR" val="472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156.021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$&#10;\end{document}"/>
  <p:tag name="IGUANATEXSIZE" val="16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5169"/>
  <p:tag name="ORIGINALWIDTH" val="790.610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In experiments&#10;\end{document}"/>
  <p:tag name="IGUANATEXSIZE" val="16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1172.41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{1}=1037.03-6.11\rmi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658"/>
  <p:tag name="ORIGINALWIDTH" val="402.056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{0} \approx 1\rmi$&#10;\end{document}"/>
  <p:tag name="IGUANATEXSIZE" val="16"/>
  <p:tag name="IGUANATEXCURSOR" val="470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578.330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/>
  <p:tag name="IGUANATEXSIZE" val="16"/>
  <p:tag name="IGUANATEXCURSOR" val="471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.51362"/>
  <p:tag name="ORIGINALWIDTH" val="659.34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result&#10;\end{document}"/>
  <p:tag name="IGUANATEXSIZE" val="16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517.572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\kappa_0$&#10;\end{document}"/>
  <p:tag name="IGUANATEXSIZE" val="16"/>
  <p:tag name="IGUANATEXCURSOR" val="470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.51362"/>
  <p:tag name="ORIGINALWIDTH" val="831.866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color=BrewerSetRed}Measured&#10;\end{document}"/>
  <p:tag name="IGUANATEXSIZE" val="14"/>
  <p:tag name="IGUANATEXCURSOR" val="4725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6347"/>
  <p:tag name="ORIGINALWIDTH" val="467.315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SolidLine{dashed,color=BrewerSetBlue}Fit&#10;\end{document}"/>
  <p:tag name="IGUANATEXSIZE" val="14"/>
  <p:tag name="IGUANATEXCURSOR" val="472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571.579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/>
  <p:tag name="IGUANATEXSIZE" val="14"/>
  <p:tag name="IGUANATEXCURSOR" val="469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516.822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/>
  <p:tag name="IGUANATEXSIZE" val="14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345.7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/>
  <p:tag name="IGUANATEXSIZE" val="14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643"/>
  <p:tag name="ORIGINALWIDTH" val="755.355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0.12+ 0.99\rmi$&#10;\end{document}"/>
  <p:tag name="IGUANATEXSIZE" val="16"/>
  <p:tag name="IGUANATEXCURSOR" val="4693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.26331"/>
  <p:tag name="ORIGINALWIDTH" val="624.087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-0.2-1.1\rmi$&#10;\end{document}"/>
  <p:tag name="IGUANATEXSIZE" val="16"/>
  <p:tag name="IGUANATEXCURSOR" val="469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571.579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agnitude&#10;\end{document}"/>
  <p:tag name="IGUANATEXSIZE" val="14"/>
  <p:tag name="IGUANATEXCURSOR" val="469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516.822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Phase ($\circ$)&#10;\end{document}"/>
  <p:tag name="IGUANATEXSIZE" val="14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620.336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 = -\kappa_0$&#10;\end{document}"/>
  <p:tag name="IGUANATEXSIZE" val="16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345.7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/>
  <p:tag name="IGUANATEXSIZE" val="14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205.528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$ [s]&#10;\end{document}"/>
  <p:tag name="IGUANATEXSIZE" val="16"/>
  <p:tag name="IGUANATEXCURSOR" val="469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345.7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$ [Hz]&#10;\end{document}"/>
  <p:tag name="IGUANATEXSIZE" val="14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578.330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T_\mathrm{m} = 0.2\,\mathrm{s}$&#10;\end{document}"/>
  <p:tag name="IGUANATEXSIZE" val="16"/>
  <p:tag name="IGUANATEXCURSOR" val="471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658"/>
  <p:tag name="ORIGINALWIDTH" val="586.581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\mathrm{m} = 5\,\mathrm{Hz}$&#10;\end{document}"/>
  <p:tag name="IGUANATEXSIZE" val="16"/>
  <p:tag name="IGUANATEXCURSOR" val="472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0176"/>
  <p:tag name="ORIGINALWIDTH" val="2209.80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Single-frequency excitation $\omega=1035\,\mathrm{Hz}$&#10;\end{document}"/>
  <p:tag name="IGUANATEXSIZE" val="16"/>
  <p:tag name="IGUANATEXCURSOR" val="472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690.73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time domain)&#10;\end{document}"/>
  <p:tag name="IGUANATEXSIZE" val="16"/>
  <p:tag name="IGUANATEXCURSOR" val="470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973.52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easured signal (frequency domain)&#10;\end{document}"/>
  <p:tag name="IGUANATEXSIZE" val="16"/>
  <p:tag name="IGUANATEXCURSOR" val="471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6141"/>
  <p:tag name="ORIGINALWIDTH" val="128.267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2 $&#10;\end{document}"/>
  <p:tag name="IGUANATEXSIZE" val="16"/>
  <p:tag name="IGUANATEXCURSOR" val="469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209.279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(t)$&#10;\end{document}"/>
  <p:tag name="IGUANATEXSIZE" val="16"/>
  <p:tag name="IGUANATEXCURSOR" val="469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1041.14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omega_{2}=1034.8-6.4\rmi$&#10;\end{document}"/>
  <p:tag name="IGUANATEXSIZE" val="16"/>
  <p:tag name="IGUANATEXCURSOR" val="470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.51362"/>
  <p:tag name="ORIGINALWIDTH" val="659.34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itted result&#10;\end{document}"/>
  <p:tag name="IGUANATEXSIZE" val="16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933.880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Floquet hoppings&#10;\end{document}"/>
  <p:tag name="IGUANATEXSIZE" val="20"/>
  <p:tag name="IGUANATEXCURSOR" val="4703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400.44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dynamic hoppings&#10;\end{document}"/>
  <p:tag name="IGUANATEXSIZE" val="24"/>
  <p:tag name="IGUANATEXCURSOR" val="471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797.25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ing arbitrary acoustic lattices&#10;\end{document}"/>
  <p:tag name="IGUANATEXSIZE" val="24"/>
  <p:tag name="IGUANATEXCURSOR" val="472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514"/>
  <p:tag name="ORIGINALWIDTH" val="1230.92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128-channel Controller&#10;&#10;\end{document}"/>
  <p:tag name="IGUANATEXSIZE" val="20"/>
  <p:tag name="IGUANATEXCURSOR" val="469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4.5635"/>
  <p:tag name="ORIGINALWIDTH" val="1830.255"/>
  <p:tag name="OUTPUTTYPE" val="PNG"/>
  <p:tag name="IGUANATEXVERSION" val="160"/>
  <p:tag name="LATEXADDIN" val="\documentclass{article}&#10;\pagestyle{empty}&#10;&#10;\usepackage{amsfonts}&#10;\usepackage{amsmath}&#10;\usepackage{braket}&#10;\usepackage{bm}&#10;\usepackage{mathtools}&#10;\usepackage{physics}&#10;\usepackage{mlmodern}&#10;\usepackage{upgreek}&#10;\usepackage{tikz}&#10;\usepackage{xcolor}&#10;&#10;\newcommand{\rmi}{\mathrm{i}}&#10;&#10;\renewcommand{\familydefault}{\sfdefault}&#10;&#10;\begin{document}&#10;&#10;$$&#10;H_\mathrm{tune}&#10;= &#10;\mqty[\kappa_{11} &amp; \kappa_{12} &amp; \kappa_{13}\\ &#10;\kappa_{21} &amp; \kappa_{22} &amp; \kappa_{23}\\&#10;\kappa_{31} &amp; \kappa_{32} &amp; \kappa_{33}]\in \mathbb{C}_{3\times 3}&#10;$$&#10;&#10;\end{document}"/>
  <p:tag name="IGUANATEXSIZE" val="20"/>
  <p:tag name="IGUANATEXCURSOR" val="492"/>
  <p:tag name="TRANSPARENCY" val="True"/>
  <p:tag name="LATEXENGINEID" val="1"/>
  <p:tag name="TEMPFOLDER" val="C:\Users\MrJia\Downloads\"/>
  <p:tag name="LATEXFORMHEIGHT" val="320"/>
  <p:tag name="LATEXFORMWIDTH" val="385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5153"/>
  <p:tag name="ORIGINALWIDTH" val="884.3734"/>
  <p:tag name="OUTPUTTYPE" val="PNG"/>
  <p:tag name="IGUANATEXVERSION" val="160"/>
  <p:tag name="LATEXADDIN" val="\documentclass{article}&#10;\pagestyle{empty}&#10;&#10;\usepackage{amsfonts}&#10;\usepackage{amsmath}&#10;\usepackage{braket}&#10;\usepackage{bm}&#10;\usepackage{mathtools}&#10;\usepackage{physics}&#10;\usepackage{mlmodern}&#10;\usepackage{upgreek}&#10;\usepackage{tikz}&#10;\usepackage{xcolor}&#10;&#10;&#10;\renewcommand{\familydefault}{\sfdefault}&#10;&#10;\begin{document}&#10;&#10;\[&#10;H = H_0 + H_\mathrm{tune}&#10;\]&#10;&#10;\end{document}"/>
  <p:tag name="IGUANATEXSIZE" val="20"/>
  <p:tag name="IGUANATEXCURSOR" val="338"/>
  <p:tag name="TRANSPARENCY" val="True"/>
  <p:tag name="LATEXENGINEID" val="1"/>
  <p:tag name="TEMPFOLDER" val="C:\Users\MrJia\Downloads\"/>
  <p:tag name="LATEXFORMHEIGHT" val="320"/>
  <p:tag name="LATEXFORMWIDTH" val="385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4.5635"/>
  <p:tag name="ORIGINALWIDTH" val="1099.653"/>
  <p:tag name="OUTPUTTYPE" val="PNG"/>
  <p:tag name="IGUANATEXVERSION" val="160"/>
  <p:tag name="LATEXADDIN" val="\documentclass{article}&#10;\pagestyle{empty}&#10;&#10;\usepackage{amsfonts}&#10;\usepackage{amsmath}&#10;\usepackage{braket}&#10;\usepackage{bm}&#10;\usepackage{mathtools}&#10;\usepackage{physics}&#10;\usepackage{mlmodern}&#10;\usepackage{upgreek}&#10;\usepackage{tikz}&#10;\usepackage{xcolor}&#10;&#10;\newcommand{\rmi}{\mathrm{i}}&#10;&#10;\renewcommand{\familydefault}{\sfdefault}&#10;&#10;\begin{document}&#10;&#10;\[&#10;H_0 = \mqty[\omega_1 &amp; 0 &amp;0 \\&#10;0 &amp; \omega_2 &amp; 0\\&#10;0 &amp; 0 &amp; \omega_3 ]&#10;\]&#10;&#10;\end{document}"/>
  <p:tag name="IGUANATEXSIZE" val="20"/>
  <p:tag name="IGUANATEXCURSOR" val="363"/>
  <p:tag name="TRANSPARENCY" val="True"/>
  <p:tag name="LATEXENGINEID" val="1"/>
  <p:tag name="TEMPFOLDER" val="C:\Users\MrJia\Downloads\"/>
  <p:tag name="LATEXFORMHEIGHT" val="320"/>
  <p:tag name="LATEXFORMWIDTH" val="385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2.182"/>
  <p:tag name="ORIGINALWIDTH" val="2346.32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Tunability&#10;\begin{itemize}&#10;\item onsite potentials and hoppings&#10;\item real-valued and complex-valued&#10;\item reciprocal and nonreciprocal&#10;%\item linear and nonlinear&#10;\item static and time-varying&#10;\item regular and irregular lattice geometry&#10;\item OBC , PBC, twisted BC&#10;\item 1D, 2D, 3D, and (3+1)D&#10;\end{itemize}&#10;\end{document}"/>
  <p:tag name="IGUANATEXSIZE" val="20"/>
  <p:tag name="IGUANATEXCURSOR" val="469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2049.28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Examples of experimental realizations&#10;&#10;\end{document}"/>
  <p:tag name="IGUANATEXSIZE" val="24"/>
  <p:tag name="IGUANATEXCURSOR" val="472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944.381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PRB 2025&#10;\end{document}"/>
  <p:tag name="IGUANATEXSIZE" val="16"/>
  <p:tag name="IGUANATEXCURSOR" val="47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671.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arXiv:2504.02824, 2025&#10;\end{document}"/>
  <p:tag name="IGUANATEXSIZE" val="16"/>
  <p:tag name="IGUANATEXCURSOR" val="471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671.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arXiv:2504.02824, 2025&#10;\end{document}"/>
  <p:tag name="IGUANATEXSIZE" val="16"/>
  <p:tag name="IGUANATEXCURSOR" val="471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671.98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Zhong arXiv:2501.08160, 2025&#10;\end{document}"/>
  <p:tag name="IGUANATEXSIZE" val="16"/>
  <p:tag name="IGUANATEXCURSOR" val="470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2125.79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(Non-Hermitian) Hatano-Nelson model&#10;&#10;\end{document}"/>
  <p:tag name="IGUANATEXSIZE" val="24"/>
  <p:tag name="IGUANATEXCURSOR" val="472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672"/>
  <p:tag name="ORIGINALWIDTH" val="1527.963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fontawesome5}&#10;&#10;\usepackage{enumitem}&#10;\setlist{nosep} % or \setlist{noitemsep} to leave space around whole list&#10;&#10;\newcommand{\rmi}{\mathrm{i}}&#10;\newcommand{\rme}{\mathrm{e}}&#10;&#10;\renewcommand{\familydefault}{\sfdefault}&#10;\usepackage{njuvisual}&#10;&#10;&#10;\begin{document}&#10;$L=12, \kappa_+ = 2\kappa_- \approx -8\,\mathrm{Hz}$&#10;&#10;\end{document}"/>
  <p:tag name="IGUANATEXSIZE" val="20"/>
  <p:tag name="IGUANATEXCURSOR" val="585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522"/>
  <p:tag name="ORIGINALWIDTH" val="584.3316"/>
  <p:tag name="OUTPUTTYPE" val="PNG"/>
  <p:tag name="IGUANATEXVERSION" val="160"/>
  <p:tag name="LATEXADDIN" val="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OBC, $\bra{\bar \psi_n^\mathrm{L}}$&#10;&#10;\end{document}"/>
  <p:tag name="IGUANATEXSIZE" val="20"/>
  <p:tag name="IGUANATEXCURSOR" val="2823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522"/>
  <p:tag name="ORIGINALWIDTH" val="575.3303"/>
  <p:tag name="OUTPUTTYPE" val="PNG"/>
  <p:tag name="IGUANATEXVERSION" val="160"/>
  <p:tag name="LATEXADDIN" val="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PBC, $\bra{\bar \psi_n^\mathrm{L}}$&#10;&#10;\end{document}"/>
  <p:tag name="IGUANATEXSIZE" val="20"/>
  <p:tag name="IGUANATEXCURSOR" val="2789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522"/>
  <p:tag name="ORIGINALWIDTH" val="602.3341"/>
  <p:tag name="OUTPUTTYPE" val="PNG"/>
  <p:tag name="IGUANATEXVERSION" val="160"/>
  <p:tag name="LATEXADDIN" val="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OBC, $\ket{\bar \psi_n^\mathrm{R}}$&#10;&#10;\end{document}"/>
  <p:tag name="IGUANATEXSIZE" val="20"/>
  <p:tag name="IGUANATEXCURSOR" val="2820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.522"/>
  <p:tag name="ORIGINALWIDTH" val="593.3328"/>
  <p:tag name="OUTPUTTYPE" val="PNG"/>
  <p:tag name="IGUANATEXVERSION" val="160"/>
  <p:tag name="LATEXADDIN" val="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PBC, $\ket{\bar \psi_n^\mathrm{R}}$&#10;&#10;\end{document}"/>
  <p:tag name="IGUANATEXSIZE" val="20"/>
  <p:tag name="IGUANATEXCURSOR" val="2789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5157"/>
  <p:tag name="ORIGINALWIDTH" val="745.604"/>
  <p:tag name="OUTPUTTYPE" val="PNG"/>
  <p:tag name="IGUANATEXVERSION" val="160"/>
  <p:tag name="LATEXADDIN" val="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Spectrum, $E_n$&#10;&#10;\end{document}"/>
  <p:tag name="IGUANATEXSIZE" val="20"/>
  <p:tag name="IGUANATEXCURSOR" val="2803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698"/>
  <p:tag name="ORIGINALWIDTH" val="453.063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H\neq H^\dagger$&#10;\end{document}"/>
  <p:tag name="IGUANATEXSIZE" val="20"/>
  <p:tag name="IGUANATEXCURSOR" val="470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2352.328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colorbox{red!20}{How to measure complex-valued spectra?}&#10;\end{document}"/>
  <p:tag name="IGUANATEXSIZE" val="16"/>
  <p:tag name="IGUANATEXCURSOR" val="474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2437.8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colorbox{red!20}{How to measure left and right eigenstates?}&#10;\end{document}"/>
  <p:tag name="IGUANATEXSIZE" val="16"/>
  <p:tag name="IGUANATEXCURSOR" val="4703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4.5341"/>
  <p:tag name="ORIGINALWIDTH" val="480.067"/>
  <p:tag name="OUTPUTTYPE" val="PNG"/>
  <p:tag name="IGUANATEXVERSION" val="160"/>
  <p:tag name="LATEXADDIN" val="\documentclass[varwidth=14cm]{standalone}&#10;&#10;\usepackage{amsmath}&#10;\usepackage{braket}&#10;\usepackage{bm}&#10;\usepackage{mathtools}&#10;\usepackage{physics}&#10;\usepackage{mlmodern}&#10;\usepackage{upgreek}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Circle[1]{&#10;    \tikz[baseline=-0.6ex]&#10;    {&#10;        \draw[very thick, #1] ({2em/2}, 0) circle [radius = 0.25em];&#10;    }&#10;}&#10;\DeclareRobustCommand\Square[1]{&#10;    \tikz[baseline=-0.6ex]&#10;    {&#10;        \draw[very thick, #1] ({2em/2-0.25em}, -0.25em) rectangle ({2em/2+0.25em},0.25em);&#10;    }&#10;}&#10;&#10;\begin{document}&#10;&#10;&#10;\Circle{color=BrewerSetRed, fill}: OBC&#10;&#10;\Square{color=BrewerSetBlue, fill}: PBC&#10;&#10;&#10;\end{document}"/>
  <p:tag name="IGUANATEXSIZE" val="16"/>
  <p:tag name="IGUANATEXCURSOR" val="2857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8.1156"/>
  <p:tag name="ORIGINALWIDTH" val="2405.586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fontawesome5}&#10;&#10;\usepackage{enumitem}&#10;\setlist{nosep} % or \setlist{noitemsep} to leave space around whole list&#10;&#10;\newcommand{\rmi}{\mathrm{i}}&#10;\newcommand{\rme}{\mathrm{e}}&#10;&#10;\renewcommand{\familydefault}{\sfdefault}&#10;\usepackage{njuvisual}&#10;&#10;&#10;\begin{document}&#10;\[&#10;G(\omega)&#10;= \mqty[&#10;G_{11}(\omega) &amp; G_{12}(\omega) &amp; \cdots &amp; G_{1L}(\omega)\\ &#10;G_{21}(\omega) &amp; G_{22}(\omega) &amp; \cdots &amp; G_{2L}(\omega)\\ &#10;\vdots &amp; \vdots &amp;\ddots  &amp; \vdots \\&#10;G_{L1}(\omega) &amp; G_{L2}(\omega) &amp; \cdots &amp; G_{LL}(\omega)&#10;]&#10;\]&#10;&#10;\end{document}"/>
  <p:tag name="IGUANATEXSIZE" val="18"/>
  <p:tag name="IGUANATEXCURSOR" val="712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1768.74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Green's function-based approach&#10;&#10;\end{document}"/>
  <p:tag name="IGUANATEXSIZE" val="24"/>
  <p:tag name="IGUANATEXCURSOR" val="471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1.8368"/>
  <p:tag name="ORIGINALWIDTH" val="1546.71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\begin{dcases}&#10;G(\omega) \ket{\psi_n^\mathrm{R}}    &#10;=  &#10;\frac{1}{\omega-E_n} &#10; \ket{\psi_n^\mathrm{R}}    &#10; \\&#10; \bra{\psi_n^\mathrm{L}}  G(\omega)&#10;=  &#10;\frac{1}{\omega-E_n} &#10; \bra{\psi_n^\mathrm{L}}&#10;\end{dcases}&#10;\]&#10;\end{document}"/>
  <p:tag name="IGUANATEXSIZE" val="20"/>
  <p:tag name="IGUANATEXCURSOR" val="480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3.0632"/>
  <p:tag name="ORIGINALWIDTH" val="1098.153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fontawesome5}&#10;&#10;\usepackage{enumitem}&#10;\setlist{nosep} % or \setlist{noitemsep} to leave space around whole list&#10;&#10;\newcommand{\rmi}{\mathrm{i}}&#10;\newcommand{\rme}{\mathrm{e}}&#10;&#10;\renewcommand{\familydefault}{\sfdefault}&#10;\usepackage{njuvisual}&#10;&#10;&#10;\begin{document}&#10;\[&#10;\begin{dcases}&#10;    H\ket{\psi_n^\mathrm{R}} = E_n \ket{\psi_n^{\mathrm{R}}}\\&#10;    \bra{\psi_n^{\mathrm{L}}} &#10;    H&#10;    =&#10;    \bra{\psi_n^{\mathrm{L}}} &#10;    E_n&#10;\end{dcases}&#10;\]&#10;&#10;\end{document}"/>
  <p:tag name="IGUANATEXSIZE" val="20"/>
  <p:tag name="IGUANATEXCURSOR" val="667"/>
  <p:tag name="TRANSPARENCY" val="True"/>
  <p:tag name="LATEXENGINEID" val="1"/>
  <p:tag name="TEMPFOLDER" val="C:\Users\MrJia\Downloads\"/>
  <p:tag name="LATEXFORMHEIGHT" val="545"/>
  <p:tag name="LATEXFORMWIDTH" val="385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828.64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Observation of nonreciprocal non-Hermitian lattices&#10;&#10;\end{document}"/>
  <p:tag name="IGUANATEXSIZE" val="24"/>
  <p:tag name="IGUANATEXCURSOR" val="473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.7719"/>
  <p:tag name="ORIGINALWIDTH" val="4016.06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H_\mathrm{NR}(\vb{k}) = \omega_0+\kappa_+ \mathrm{e}^{-\mathrm{i}k_x} + \kappa_+ \mathrm{e}^{-\mathrm{i}k_y} + \kappa_- \mathrm{e}^{\mathrm{i}k_x} + \kappa_- \mathrm{e}^{\mathrm{i}k_y} + 4\kappa' \cos k_x \cos k_y&#10;\]&#10;\end{document}"/>
  <p:tag name="IGUANATEXSIZE" val="16"/>
  <p:tag name="IGUANATEXCURSOR" val="4906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626.86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Observation of reciprocal non-Hermitian lattices&#10;&#10;\end{document}"/>
  <p:tag name="IGUANATEXSIZE" val="24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451.34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Geometry-dependent spectra and eigenstates&#10;\end{document}"/>
  <p:tag name="IGUANATEXSIZE" val="20"/>
  <p:tag name="IGUANATEXCURSOR" val="472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2696"/>
  <p:tag name="ORIGINALWIDTH" val="2467.09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 H_\mathrm{R}(\vb{k}) =\omega_0+ 2 \kappa_x \cos k_x+ 2 \kappa_y \cos(k_x+k_y)&#10;\]&#10;\end{document}"/>
  <p:tag name="IGUANATEXSIZE" val="20"/>
  <p:tag name="IGUANATEXCURSOR" val="477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505.4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&#10;\omega_0/(2\uppi) = 1040\,\mathrm{Hz} - 6\mathrm{i}\,\mathrm{Hz}$&#10;&#10;\end{document}"/>
  <p:tag name="IGUANATEXSIZE" val="16"/>
  <p:tag name="IGUANATEXCURSOR" val="475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066.64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x/(2\uppi)=2.25\mathrm{i}\,\mathrm{Hz}$&#10;&#10;\end{document}"/>
  <p:tag name="IGUANATEXSIZE" val="16"/>
  <p:tag name="IGUANATEXCURSOR" val="473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2696"/>
  <p:tag name="ORIGINALWIDTH" val="962.384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 $\kappa_y/(2\uppi)=4.5\,\mathrm{Hz}$&#10;&#10;\end{document}"/>
  <p:tag name="IGUANATEXSIZE" val="16"/>
  <p:tag name="IGUANATEXCURSOR" val="468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626.86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Observation of reciprocal non-Hermitian lattices&#10;&#10;\end{document}"/>
  <p:tag name="IGUANATEXSIZE" val="24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505.46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&#10;\omega_0/(2\uppi) = 1040\,\mathrm{Hz} - 6\mathrm{i}\,\mathrm{Hz}$&#10;&#10;\end{document}"/>
  <p:tag name="IGUANATEXSIZE" val="16"/>
  <p:tag name="IGUANATEXCURSOR" val="475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1066.64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kappa_x/(2\uppi)=2.25\mathrm{i}\,\mathrm{Hz}$&#10;&#10;\end{document}"/>
  <p:tag name="IGUANATEXSIZE" val="16"/>
  <p:tag name="IGUANATEXCURSOR" val="4734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2696"/>
  <p:tag name="ORIGINALWIDTH" val="962.3843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 $\kappa_y/(2\uppi)=4.5\,\mathrm{Hz}$&#10;&#10;\end{document}"/>
  <p:tag name="IGUANATEXSIZE" val="16"/>
  <p:tag name="IGUANATEXCURSOR" val="4687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2696"/>
  <p:tag name="ORIGINALWIDTH" val="2467.094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 H_\mathrm{R}(\vb{k}) =\omega_0+ 2 \kappa_x \cos k_x+ 2 \kappa_y \cos(k_x+k_y)&#10;\]&#10;\end{document}"/>
  <p:tag name="IGUANATEXSIZE" val="20"/>
  <p:tag name="IGUANATEXCURSOR" val="4771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0143"/>
  <p:tag name="ORIGINALWIDTH" val="2554.856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Observation of non-Hermitian Chern insulators&#10;\end{document}"/>
  <p:tag name="IGUANATEXSIZE" val="24"/>
  <p:tag name="IGUANATEXCURSOR" val="3136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69"/>
  <p:tag name="ORIGINALWIDTH" val="2432.589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    H_\mathrm{NH}(\vb{k}) = H_\mathrm{H}(\vb{k}) + \mathrm{i} \bm\upsigma \vdot \vb{h}&#10;    = \bm\upsigma \cdot \left[\vb{d}(\vb{k}) + \mathrm{i} \vb{h}\right]&#10;\]&#10;\end{document}"/>
  <p:tag name="IGUANATEXSIZE" val="16"/>
  <p:tag name="IGUANATEXCURSOR" val="484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01378"/>
  <p:tag name="ORIGINALWIDTH" val="889.624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Hermitian Chern&#10;\end{document}"/>
  <p:tag name="IGUANATEXSIZE" val="16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5169"/>
  <p:tag name="ORIGINALWIDTH" val="1514.46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Non-Hermitian perturbation&#10;\end{document}"/>
  <p:tag name="IGUANATEXSIZE" val="16"/>
  <p:tag name="IGUANATEXCURSOR" val="4713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2696"/>
  <p:tag name="ORIGINALWIDTH" val="2848.14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[&#10;\vb{d}(\vb{k}) = \left( t_0 \sin k_x , t_0\sin k_y , t_0[ \cos k_x + \cos k_y] - m_0 \right)&#10;\]&#10;\end{document}"/>
  <p:tag name="IGUANATEXSIZE" val="16"/>
  <p:tag name="IGUANATEXCURSOR" val="478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.0206"/>
  <p:tag name="ORIGINALWIDTH" val="1183.665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vb{h}=(h_x,h_y,h_z)\in \mathbb{R}^3$&#10;\end{document}"/>
  <p:tag name="IGUANATEXSIZE" val="16"/>
  <p:tag name="IGUANATEXCURSOR" val="4709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01378"/>
  <p:tag name="ORIGINALWIDTH" val="1894.014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Hermitian acoustic Chern insulator&#10;\end{document}"/>
  <p:tag name="IGUANATEXSIZE" val="24"/>
  <p:tag name="IGUANATEXCURSOR" val="3091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2.7685"/>
  <p:tag name="ORIGINALWIDTH" val="989.3881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h_x=h_y=h_z=0$&#10;\end{document}"/>
  <p:tag name="IGUANATEXSIZE" val="20"/>
  <p:tag name="IGUANATEXCURSOR" val="470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846.868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Gamma$ phase, $C=1$&#10;\end{document}"/>
  <p:tag name="IGUANATEXSIZE" val="20"/>
  <p:tag name="IGUANATEXCURSOR" val="470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972.8857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M phase, $C=-1$&#10;\end{document}"/>
  <p:tag name="IGUANATEXSIZE" val="20"/>
  <p:tag name="IGUANATEXCURSOR" val="4700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01378"/>
  <p:tag name="ORIGINALWIDTH" val="2164.052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Non-Hermitian acoustic Chern insulator&#10;\end{document}"/>
  <p:tag name="IGUANATEXSIZE" val="24"/>
  <p:tag name="IGUANATEXCURSOR" val="3096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846.868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Gamma$ phase, $C=1$&#10;\end{document}"/>
  <p:tag name="IGUANATEXSIZE" val="20"/>
  <p:tag name="IGUANATEXCURSOR" val="470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01378"/>
  <p:tag name="ORIGINALWIDTH" val="2164.052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Non-Hermitian acoustic Chern insulator&#10;\end{document}"/>
  <p:tag name="IGUANATEXSIZE" val="24"/>
  <p:tag name="IGUANATEXCURSOR" val="3096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846.8682"/>
  <p:tag name="OUTPUTTYPE" val="PNG"/>
  <p:tag name="IGUANATEXVERSION" val="160"/>
  <p:tag name="LATEXADDIN" val="\documentclass{article}&#10;\pagestyle{empty}&#10;%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$\Gamma$ phase, $C=1$&#10;\end{document}"/>
  <p:tag name="IGUANATEXSIZE" val="20"/>
  <p:tag name="IGUANATEXCURSOR" val="4708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01378"/>
  <p:tag name="ORIGINALWIDTH" val="633.8384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Conclusions&#10;\end{document}"/>
  <p:tag name="IGUANATEXSIZE" val="24"/>
  <p:tag name="IGUANATEXCURSOR" val="3103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0172"/>
  <p:tag name="ORIGINALWIDTH" val="612.8355"/>
  <p:tag name="OUTPUTTYPE" val="PNG"/>
  <p:tag name="IGUANATEXVERSION" val="160"/>
  <p:tag name="LATEXADDIN" val="\documentclass{article}&#10;\pagestyle{empty}&#10;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&#10;\usepackage{enumitem}&#10;\setlist{nosep} % or \setlist{noitemsep} to leave space around whole list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begin{document}&#10;&#10;Thank you!&#10;\end{document}"/>
  <p:tag name="IGUANATEXSIZE" val="24"/>
  <p:tag name="IGUANATEXCURSOR" val="3101"/>
  <p:tag name="TRANSPARENCY" val="True"/>
  <p:tag name="LATEXENGINEID" val="1"/>
  <p:tag name="TEMPFOLDER" val="C:\Users\MrJia\Downloads\"/>
  <p:tag name="LATEXFORMHEIGHT" val="560"/>
  <p:tag name="LATEXFORMWIDTH" val="385"/>
  <p:tag name="LATEXFORMWRAP" val="True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8.3098"/>
  <p:tag name="ORIGINALWIDTH" val="5053.455"/>
  <p:tag name="OUTPUTTYPE" val="PNG"/>
  <p:tag name="IGUANATEXVERSION" val="160"/>
  <p:tag name="LATEXADDIN" val="\documentclass{article}&#10;\pagestyle{empty}&#10; \setlength{\textwidth}{17cm}&#10;% \usepackage[left=0cm,width=20cm]{geometry}&#10;&#10;\usepackage{soul}&#10;\usepackage{amsfonts}&#10;\usepackage{amsmath}&#10;\usepackage{bm}&#10;\usepackage{mathtools}&#10;\usepackage{physics}&#10;\usepackage{mlmodern}&#10;\usepackage{upgreek}&#10;\usepackage{tikz}&#10;\usepackage{xcolor}&#10;\usepackage{braket}&#10;\usepackage{ctex}&#10;\usepackage{booktabs}&#10;\usepackage{listings}&#10;\usepackage{enumitem}&#10;% 在 preamble 中设置 itemize 环境的默认参数 &#10;\setlist[itemize]{itemsep=-6pt,topsep=-18pt}&#10;&#10;\newcommand{\rmi}{\mathrm{i}}&#10;\newcommand{\rme}{\mathrm{e}}&#10;&#10;\renewcommand{\familydefault}{\sfdefault}&#10;&#10;&#10;&#10;\usepackage{xcolor}&#10;\definecolor{BrewerSetRed}{RGB}{228,26,28}&#10;\definecolor{BrewerSetBlue}{RGB}{55,126,184}&#10;\definecolor{BrewerSetGreen}{RGB}{77,175,74}&#10;\definecolor{BrewerSetPurple}{RGB}{152,78,163}&#10;\definecolor{BrewerSetOrange}{RGB}{255,127,0}&#10;\definecolor{BrewerSetYellow}{RGB}{236,176,23}&#10;\definecolor{BrewerSetBrown}{RGB}{166,86,40}&#10;\definecolor{BrewerSetPink}{RGB}{247,129,191}&#10;\definecolor{BrewerSetGray}{RGB}{153,153,153}&#10;\definecolor{BrewerSetLightBlue}{RGB}{179,205,227}&#10;&#10;% line and markerstyles&#10;\usepackage{tikz}&#10;\usetikzlibrary{shapes.geometric,positioning}&#10;\DeclareRobustCommand\SolidLine[1]{&#10;    \tikz[baseline=-0.6ex]\draw[very thick, #1] (0,0) -- (2em,0);&#10;}&#10;\DeclareRobustCommand\DashdottedLine[1]{&#10;    \tikz[baseline=-0.6ex]\draw[very thick, dash pattern = on 5pt off 1.5pt on 3pt off 1.5pt on 5pt, #1] (0,0) -- (2em,0);&#10;}&#10;\DeclareRobustCommand\SolidLineCircle[1]{&#10;    \tikz[baseline=-0.6ex]&#10;    {&#10;        \draw[very thick, #1] (0,0) -- (2em,0);&#10;        \draw[very thick, #1] ({2em/2}, 0) circle [radius = 0.25em];&#10;    }&#10;}&#10;\DeclareRobustCommand\Circle[1]{&#10;    \tikz[baseline=-0.6ex]&#10;    {&#10;        \draw[very thick, #1] ({2em/2}, 0) circle [radius = 0.25em];&#10;    }&#10;}&#10;\DeclareRobustCommand\SolidLineSquare[1]{&#10;    \tikz[baseline=-0.6ex]&#10;    {&#10;        \draw[very thick, #1] (0,0) -- (2em,0);&#10;        \draw[very thick, #1] ({2em/2-0.25em}, -0.25em) rectangle ({2em/2+0.25em},0.25em);&#10;    }&#10;}&#10;\DeclareRobustCommand\Square[1]{&#10;    \tikz[baseline=-0.6ex]&#10;    {&#10;        \draw[very thick, #1] ({2em/2-0.25em}, -0.25em) rectangle ({2em/2+0.25em},0.25em);&#10;    }&#10;}&#10;\DeclareRobustCommand\SolidLineTriangle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Triangle[1]{&#10;    \tikz[baseline=-0.6ex]&#10;    {&#10;        \node[draw, very thick, isosceles triangle, &#10;            isosceles triangle apex angle = 60,&#10;            rotate = 90, minimum width = 0.1cm, &#10;            scale = 0.5, &#10;            anchor = center, &#10;            xshift = -1pt,&#10;            #1] at (1em, 0){};&#10;    }&#10;}&#10;\DeclareRobustCommand\SolidLineRhombus[1]{&#10;    \tikz[baseline=-0.6ex]&#10;    {&#10;        \draw[very thick, #1] (0,0) -- (2em,0);&#10;        \node[draw, very thick, isosceles triangle, &#10;            isosceles triangle apex angle = 60,&#10;            rotate = 90, minimum width = 0.1cm, &#10;            scale = 0.35, &#10;            anchor = center, &#10;            xshift = 0.8ex,&#10;            #1] at (1em, 0){};&#10;        \node[draw, very thick, isosceles triangle, &#10;            isosceles triangle apex angle = 60,&#10;            rotate = -90, minimum width = 0.1cm, &#10;            scale = 0.35, &#10;            anchor = center, &#10;            xshift = 0.8ex,&#10;            #1] at (1em, 0){};&#10;    }&#10;}&#10;&#10;\DeclareRobustCommand\Rhombus[1]{&#10;    \tikz[baseline=-0.6ex, scale = 0.5]&#10;    {&#10;        \draw[very thick,#1] &#10;        (0,1em) -- (.7em,0) -- (0,-1em) -- (-.7em,0) -- cycle;&#10;    }&#10;}&#10;&#10;&#10;\DeclareRobustCommand\SolidLineStar[1]{&#10;    \tikz[baseline=-0.6ex]&#10;    {&#10;        % Draw the solid line&#10;        \draw[very thick, #1] (0,0) -- (2em,0);&#10;        &#10;        % Draw the star marker&#10;        \node[star, star points=5, star point ratio=2.25, draw, fill=none, very thick, &#10;              scale=0.3, #1] at (1em, 0) {};&#10;    }&#10;}&#10;&#10;\DeclareRobustCommand\Star[1]{&#10;    \tikz[baseline=-0.6ex]&#10;    {&#10;       &#10;        % Draw the star marker&#10;        \node[star, star points=5, star point ratio=2.25, draw, fill=none, very thick, &#10;              scale=0.3, #1] at (1em, 0) {};&#10;    }&#10;}&#10;\usepackage{setspace}&#10;\setstretch{1.2} % 行间距&#10;&#10;\setlength{\parindent}{0pt}   % 设置段落首行缩进为 0&#10;\setlength{\parskip}{1em}     % 设置段落之间的间距&#10;&#10;\DeclareRobustCommand\Cross[1]{&#10;    \tikz[baseline=-0.6ex]&#10;    {&#10;        \draw[thick, #1] (-0.3em,0.3em) -- (0.3em,-0.3em);&#10;        \draw[thick, #1] (-0.3em,-0.3em) -- (0.3em,0.3em);&#10;    }&#10;}&#10;&#10;\begin{document}&#10;&#10;\begin{itemize}&#10;\item Tunable and reconfigurable active acoustic lattices&#10;\item Experimentally probing eigenenergies and eigenstates of non-Hermitian systems&#10;\item Observation of dislocation bound states and skin effects in non-Hermitian Chern insulator&#10;\end{itemize}&#10;\end{document}"/>
  <p:tag name="IGUANATEXSIZE" val="20"/>
  <p:tag name="IGUANATEXCURSOR" val="42"/>
  <p:tag name="TRANSPARENCY" val="True"/>
  <p:tag name="LATEXENGINEID" val="1"/>
  <p:tag name="TEMPFOLDER" val="C:\Users\MrJia\Downloads\"/>
  <p:tag name="LATEXFORMHEIGHT" val="513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59</Words>
  <Application>Microsoft Office PowerPoint</Application>
  <PresentationFormat>Widescreen</PresentationFormat>
  <Paragraphs>28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Experimental Realization and Probing of Higher-Dimensional Non-Hermitian Acoustic Lattices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Audible enclaves crafted by nonlinear self-bending ultrasonic beams</dc:title>
  <dc:creator>Zhong, Jiaxin</dc:creator>
  <cp:lastModifiedBy>Zhong, Jiaxin</cp:lastModifiedBy>
  <cp:revision>453</cp:revision>
  <dcterms:created xsi:type="dcterms:W3CDTF">2024-10-25T06:06:05Z</dcterms:created>
  <dcterms:modified xsi:type="dcterms:W3CDTF">2025-05-23T17:03:29Z</dcterms:modified>
</cp:coreProperties>
</file>